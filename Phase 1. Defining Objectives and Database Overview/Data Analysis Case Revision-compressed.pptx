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650" b="0" i="0">
                <a:solidFill>
                  <a:srgbClr val="93E32E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3020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6120" y="4876038"/>
            <a:ext cx="17255744" cy="541096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650" b="0" i="0">
                <a:solidFill>
                  <a:srgbClr val="93E32E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603905" y="1728825"/>
            <a:ext cx="7699375" cy="14884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664917" y="2579014"/>
            <a:ext cx="12375515" cy="3172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650" b="0" i="0">
                <a:solidFill>
                  <a:srgbClr val="93E32E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5157234" y="1018781"/>
            <a:ext cx="21209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45">
                <a:solidFill>
                  <a:srgbClr val="FFFFFF"/>
                </a:solidFill>
                <a:latin typeface="Arial"/>
                <a:cs typeface="Arial"/>
              </a:rPr>
              <a:t>Updated</a:t>
            </a:r>
            <a:r>
              <a:rPr dirty="0" sz="1800" spc="-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dirty="0" sz="1800" spc="-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31/05/2026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71982" y="2217508"/>
            <a:ext cx="16383000" cy="0"/>
          </a:xfrm>
          <a:custGeom>
            <a:avLst/>
            <a:gdLst/>
            <a:ahLst/>
            <a:cxnLst/>
            <a:rect l="l" t="t" r="r" b="b"/>
            <a:pathLst>
              <a:path w="16383000" h="0">
                <a:moveTo>
                  <a:pt x="16382619" y="0"/>
                </a:moveTo>
                <a:lnTo>
                  <a:pt x="0" y="0"/>
                </a:lnTo>
              </a:path>
            </a:pathLst>
          </a:custGeom>
          <a:ln w="9524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809356" y="2744647"/>
            <a:ext cx="12632055" cy="1701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0" spc="-220">
                <a:solidFill>
                  <a:srgbClr val="93E32E"/>
                </a:solidFill>
              </a:rPr>
              <a:t>Data</a:t>
            </a:r>
            <a:r>
              <a:rPr dirty="0" sz="11000" spc="-520">
                <a:solidFill>
                  <a:srgbClr val="93E32E"/>
                </a:solidFill>
              </a:rPr>
              <a:t> </a:t>
            </a:r>
            <a:r>
              <a:rPr dirty="0" sz="11000" spc="-240">
                <a:solidFill>
                  <a:srgbClr val="93E32E"/>
                </a:solidFill>
              </a:rPr>
              <a:t>Analysis</a:t>
            </a:r>
            <a:r>
              <a:rPr dirty="0" sz="11000" spc="-520">
                <a:solidFill>
                  <a:srgbClr val="93E32E"/>
                </a:solidFill>
              </a:rPr>
              <a:t> </a:t>
            </a:r>
            <a:r>
              <a:rPr dirty="0" sz="11000" spc="-200">
                <a:solidFill>
                  <a:srgbClr val="93E32E"/>
                </a:solidFill>
              </a:rPr>
              <a:t>Project</a:t>
            </a:r>
            <a:endParaRPr sz="11000"/>
          </a:p>
        </p:txBody>
      </p:sp>
      <p:sp>
        <p:nvSpPr>
          <p:cNvPr id="2" name="object 2"/>
          <p:cNvSpPr txBox="1"/>
          <p:nvPr/>
        </p:nvSpPr>
        <p:spPr>
          <a:xfrm>
            <a:off x="1089623" y="5727509"/>
            <a:ext cx="16023590" cy="1244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0" spc="-185">
                <a:solidFill>
                  <a:srgbClr val="FFFFFF"/>
                </a:solidFill>
                <a:latin typeface="Arial"/>
                <a:cs typeface="Arial"/>
              </a:rPr>
              <a:t>XYZ</a:t>
            </a:r>
            <a:r>
              <a:rPr dirty="0" sz="8000" spc="-3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000" spc="-195">
                <a:solidFill>
                  <a:srgbClr val="FFFFFF"/>
                </a:solidFill>
                <a:latin typeface="Arial"/>
                <a:cs typeface="Arial"/>
              </a:rPr>
              <a:t>Sports</a:t>
            </a:r>
            <a:r>
              <a:rPr dirty="0" sz="8000" spc="-3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000" spc="-190">
                <a:solidFill>
                  <a:srgbClr val="FFFFFF"/>
                </a:solidFill>
                <a:latin typeface="Arial"/>
                <a:cs typeface="Arial"/>
              </a:rPr>
              <a:t>Sales</a:t>
            </a:r>
            <a:r>
              <a:rPr dirty="0" sz="8000" spc="-3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000" spc="-204">
                <a:solidFill>
                  <a:srgbClr val="FFFFFF"/>
                </a:solidFill>
                <a:latin typeface="Arial"/>
                <a:cs typeface="Arial"/>
              </a:rPr>
              <a:t>Marketing</a:t>
            </a:r>
            <a:r>
              <a:rPr dirty="0" sz="8000" spc="-3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000" spc="-80">
                <a:solidFill>
                  <a:srgbClr val="FFFFFF"/>
                </a:solidFill>
                <a:latin typeface="Arial"/>
                <a:cs typeface="Arial"/>
              </a:rPr>
              <a:t>Analysis</a:t>
            </a:r>
            <a:endParaRPr sz="80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023937" y="4762"/>
            <a:ext cx="16235680" cy="10282555"/>
            <a:chOff x="1023937" y="4762"/>
            <a:chExt cx="16235680" cy="10282555"/>
          </a:xfrm>
        </p:grpSpPr>
        <p:sp>
          <p:nvSpPr>
            <p:cNvPr id="7" name="object 7"/>
            <p:cNvSpPr/>
            <p:nvPr/>
          </p:nvSpPr>
          <p:spPr>
            <a:xfrm>
              <a:off x="1028700" y="4762"/>
              <a:ext cx="0" cy="10282555"/>
            </a:xfrm>
            <a:custGeom>
              <a:avLst/>
              <a:gdLst/>
              <a:ahLst/>
              <a:cxnLst/>
              <a:rect l="l" t="t" r="r" b="b"/>
              <a:pathLst>
                <a:path w="0" h="10282555">
                  <a:moveTo>
                    <a:pt x="0" y="0"/>
                  </a:moveTo>
                  <a:lnTo>
                    <a:pt x="0" y="10282236"/>
                  </a:lnTo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7254601" y="4762"/>
              <a:ext cx="0" cy="10282555"/>
            </a:xfrm>
            <a:custGeom>
              <a:avLst/>
              <a:gdLst/>
              <a:ahLst/>
              <a:cxnLst/>
              <a:rect l="l" t="t" r="r" b="b"/>
              <a:pathLst>
                <a:path w="0" h="10282555">
                  <a:moveTo>
                    <a:pt x="0" y="0"/>
                  </a:moveTo>
                  <a:lnTo>
                    <a:pt x="0" y="10282236"/>
                  </a:lnTo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028700" y="7737208"/>
              <a:ext cx="16226155" cy="0"/>
            </a:xfrm>
            <a:custGeom>
              <a:avLst/>
              <a:gdLst/>
              <a:ahLst/>
              <a:cxnLst/>
              <a:rect l="l" t="t" r="r" b="b"/>
              <a:pathLst>
                <a:path w="16226155" h="0">
                  <a:moveTo>
                    <a:pt x="16225901" y="0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035687" y="7987499"/>
              <a:ext cx="3232785" cy="556260"/>
            </a:xfrm>
            <a:custGeom>
              <a:avLst/>
              <a:gdLst/>
              <a:ahLst/>
              <a:cxnLst/>
              <a:rect l="l" t="t" r="r" b="b"/>
              <a:pathLst>
                <a:path w="3232785" h="556259">
                  <a:moveTo>
                    <a:pt x="2954477" y="0"/>
                  </a:moveTo>
                  <a:lnTo>
                    <a:pt x="277865" y="0"/>
                  </a:lnTo>
                  <a:lnTo>
                    <a:pt x="223404" y="5388"/>
                  </a:lnTo>
                  <a:lnTo>
                    <a:pt x="171531" y="21150"/>
                  </a:lnTo>
                  <a:lnTo>
                    <a:pt x="123706" y="46682"/>
                  </a:lnTo>
                  <a:lnTo>
                    <a:pt x="81385" y="81381"/>
                  </a:lnTo>
                  <a:lnTo>
                    <a:pt x="46684" y="123702"/>
                  </a:lnTo>
                  <a:lnTo>
                    <a:pt x="21150" y="171530"/>
                  </a:lnTo>
                  <a:lnTo>
                    <a:pt x="5388" y="223404"/>
                  </a:lnTo>
                  <a:lnTo>
                    <a:pt x="0" y="277863"/>
                  </a:lnTo>
                  <a:lnTo>
                    <a:pt x="5388" y="332327"/>
                  </a:lnTo>
                  <a:lnTo>
                    <a:pt x="21150" y="384200"/>
                  </a:lnTo>
                  <a:lnTo>
                    <a:pt x="46684" y="432025"/>
                  </a:lnTo>
                  <a:lnTo>
                    <a:pt x="81385" y="474345"/>
                  </a:lnTo>
                  <a:lnTo>
                    <a:pt x="123706" y="509043"/>
                  </a:lnTo>
                  <a:lnTo>
                    <a:pt x="171531" y="534576"/>
                  </a:lnTo>
                  <a:lnTo>
                    <a:pt x="223404" y="550338"/>
                  </a:lnTo>
                  <a:lnTo>
                    <a:pt x="277865" y="555726"/>
                  </a:lnTo>
                  <a:lnTo>
                    <a:pt x="2954477" y="555726"/>
                  </a:lnTo>
                  <a:lnTo>
                    <a:pt x="3008935" y="550338"/>
                  </a:lnTo>
                  <a:lnTo>
                    <a:pt x="3060809" y="534576"/>
                  </a:lnTo>
                  <a:lnTo>
                    <a:pt x="3108637" y="509043"/>
                  </a:lnTo>
                  <a:lnTo>
                    <a:pt x="3150958" y="474345"/>
                  </a:lnTo>
                  <a:lnTo>
                    <a:pt x="3185657" y="432025"/>
                  </a:lnTo>
                  <a:lnTo>
                    <a:pt x="3211190" y="384200"/>
                  </a:lnTo>
                  <a:lnTo>
                    <a:pt x="3226952" y="332327"/>
                  </a:lnTo>
                  <a:lnTo>
                    <a:pt x="3232340" y="277863"/>
                  </a:lnTo>
                  <a:lnTo>
                    <a:pt x="3226952" y="223404"/>
                  </a:lnTo>
                  <a:lnTo>
                    <a:pt x="3211190" y="171530"/>
                  </a:lnTo>
                  <a:lnTo>
                    <a:pt x="3185657" y="123702"/>
                  </a:lnTo>
                  <a:lnTo>
                    <a:pt x="3150958" y="81381"/>
                  </a:lnTo>
                  <a:lnTo>
                    <a:pt x="3108637" y="46682"/>
                  </a:lnTo>
                  <a:lnTo>
                    <a:pt x="3060809" y="21150"/>
                  </a:lnTo>
                  <a:lnTo>
                    <a:pt x="3008935" y="5388"/>
                  </a:lnTo>
                  <a:lnTo>
                    <a:pt x="2954477" y="0"/>
                  </a:lnTo>
                  <a:close/>
                </a:path>
              </a:pathLst>
            </a:custGeom>
            <a:solidFill>
              <a:srgbClr val="FFFFFF">
                <a:alpha val="14901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035687" y="7987499"/>
              <a:ext cx="3232785" cy="556260"/>
            </a:xfrm>
            <a:custGeom>
              <a:avLst/>
              <a:gdLst/>
              <a:ahLst/>
              <a:cxnLst/>
              <a:rect l="l" t="t" r="r" b="b"/>
              <a:pathLst>
                <a:path w="3232785" h="556259">
                  <a:moveTo>
                    <a:pt x="277865" y="0"/>
                  </a:moveTo>
                  <a:lnTo>
                    <a:pt x="2954477" y="0"/>
                  </a:lnTo>
                  <a:lnTo>
                    <a:pt x="3008935" y="5388"/>
                  </a:lnTo>
                  <a:lnTo>
                    <a:pt x="3060809" y="21150"/>
                  </a:lnTo>
                  <a:lnTo>
                    <a:pt x="3108637" y="46682"/>
                  </a:lnTo>
                  <a:lnTo>
                    <a:pt x="3150958" y="81381"/>
                  </a:lnTo>
                  <a:lnTo>
                    <a:pt x="3185657" y="123702"/>
                  </a:lnTo>
                  <a:lnTo>
                    <a:pt x="3211190" y="171530"/>
                  </a:lnTo>
                  <a:lnTo>
                    <a:pt x="3226952" y="223404"/>
                  </a:lnTo>
                  <a:lnTo>
                    <a:pt x="3232340" y="277863"/>
                  </a:lnTo>
                  <a:lnTo>
                    <a:pt x="3226952" y="332327"/>
                  </a:lnTo>
                  <a:lnTo>
                    <a:pt x="3211190" y="384200"/>
                  </a:lnTo>
                  <a:lnTo>
                    <a:pt x="3185657" y="432025"/>
                  </a:lnTo>
                  <a:lnTo>
                    <a:pt x="3150958" y="474345"/>
                  </a:lnTo>
                  <a:lnTo>
                    <a:pt x="3108637" y="509043"/>
                  </a:lnTo>
                  <a:lnTo>
                    <a:pt x="3060809" y="534576"/>
                  </a:lnTo>
                  <a:lnTo>
                    <a:pt x="3008935" y="550338"/>
                  </a:lnTo>
                  <a:lnTo>
                    <a:pt x="2954477" y="555726"/>
                  </a:lnTo>
                  <a:lnTo>
                    <a:pt x="277865" y="555726"/>
                  </a:lnTo>
                  <a:lnTo>
                    <a:pt x="223404" y="550338"/>
                  </a:lnTo>
                  <a:lnTo>
                    <a:pt x="171531" y="534576"/>
                  </a:lnTo>
                  <a:lnTo>
                    <a:pt x="123706" y="509043"/>
                  </a:lnTo>
                  <a:lnTo>
                    <a:pt x="81385" y="474345"/>
                  </a:lnTo>
                  <a:lnTo>
                    <a:pt x="46684" y="432025"/>
                  </a:lnTo>
                  <a:lnTo>
                    <a:pt x="21150" y="384200"/>
                  </a:lnTo>
                  <a:lnTo>
                    <a:pt x="5388" y="332327"/>
                  </a:lnTo>
                  <a:lnTo>
                    <a:pt x="0" y="277863"/>
                  </a:lnTo>
                  <a:lnTo>
                    <a:pt x="5388" y="223404"/>
                  </a:lnTo>
                  <a:lnTo>
                    <a:pt x="21150" y="171530"/>
                  </a:lnTo>
                  <a:lnTo>
                    <a:pt x="46684" y="123702"/>
                  </a:lnTo>
                  <a:lnTo>
                    <a:pt x="81385" y="81381"/>
                  </a:lnTo>
                  <a:lnTo>
                    <a:pt x="123706" y="46682"/>
                  </a:lnTo>
                  <a:lnTo>
                    <a:pt x="171531" y="21150"/>
                  </a:lnTo>
                  <a:lnTo>
                    <a:pt x="223404" y="5388"/>
                  </a:lnTo>
                  <a:lnTo>
                    <a:pt x="277865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1022987" y="8103209"/>
            <a:ext cx="2881630" cy="1174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95605">
              <a:lnSpc>
                <a:spcPct val="100000"/>
              </a:lnSpc>
              <a:spcBef>
                <a:spcPts val="100"/>
              </a:spcBef>
            </a:pPr>
            <a:r>
              <a:rPr dirty="0" sz="2100" spc="-55" b="1">
                <a:solidFill>
                  <a:srgbClr val="FFFFFF"/>
                </a:solidFill>
                <a:latin typeface="Arial"/>
                <a:cs typeface="Arial"/>
              </a:rPr>
              <a:t>Project</a:t>
            </a:r>
            <a:r>
              <a:rPr dirty="0" sz="2100" spc="-45" b="1">
                <a:solidFill>
                  <a:srgbClr val="FFFFFF"/>
                </a:solidFill>
                <a:latin typeface="Arial"/>
                <a:cs typeface="Arial"/>
              </a:rPr>
              <a:t> Presentation</a:t>
            </a:r>
            <a:endParaRPr sz="2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45"/>
              </a:spcBef>
            </a:pPr>
            <a:endParaRPr sz="2100">
              <a:latin typeface="Arial"/>
              <a:cs typeface="Arial"/>
            </a:endParaRPr>
          </a:p>
          <a:p>
            <a:pPr marL="12700">
              <a:lnSpc>
                <a:spcPts val="1880"/>
              </a:lnSpc>
            </a:pPr>
            <a:r>
              <a:rPr dirty="0" sz="1600" spc="-40">
                <a:solidFill>
                  <a:srgbClr val="FFFFFF"/>
                </a:solidFill>
                <a:latin typeface="Arial"/>
                <a:cs typeface="Arial"/>
              </a:rPr>
              <a:t>Presented</a:t>
            </a:r>
            <a:r>
              <a:rPr dirty="0" sz="1600" spc="-8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dirty="0" sz="1600" spc="-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0">
                <a:solidFill>
                  <a:srgbClr val="FFFFFF"/>
                </a:solidFill>
                <a:latin typeface="Arial"/>
                <a:cs typeface="Arial"/>
              </a:rPr>
              <a:t>: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ts val="1880"/>
              </a:lnSpc>
            </a:pP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Yosafat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/>
          <p:cNvSpPr txBox="1"/>
          <p:nvPr/>
        </p:nvSpPr>
        <p:spPr>
          <a:xfrm>
            <a:off x="15157234" y="1018781"/>
            <a:ext cx="21209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45">
                <a:solidFill>
                  <a:srgbClr val="FFFFFF"/>
                </a:solidFill>
                <a:latin typeface="Arial"/>
                <a:cs typeface="Arial"/>
              </a:rPr>
              <a:t>Updated</a:t>
            </a:r>
            <a:r>
              <a:rPr dirty="0" sz="1800" spc="-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dirty="0" sz="1800" spc="-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31/05/2026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16000" y="3097110"/>
            <a:ext cx="6089015" cy="3219450"/>
          </a:xfrm>
          <a:prstGeom prst="rect">
            <a:avLst/>
          </a:prstGeom>
        </p:spPr>
        <p:txBody>
          <a:bodyPr wrap="square" lIns="0" tIns="614045" rIns="0" bIns="0" rtlCol="0" vert="horz">
            <a:spAutoFit/>
          </a:bodyPr>
          <a:lstStyle/>
          <a:p>
            <a:pPr marL="12700" marR="5080">
              <a:lnSpc>
                <a:spcPct val="68300"/>
              </a:lnSpc>
              <a:spcBef>
                <a:spcPts val="4835"/>
              </a:spcBef>
            </a:pPr>
            <a:r>
              <a:rPr dirty="0" sz="12450" spc="-254">
                <a:solidFill>
                  <a:srgbClr val="FFFFFF"/>
                </a:solidFill>
                <a:latin typeface="Arial"/>
                <a:cs typeface="Arial"/>
              </a:rPr>
              <a:t>List</a:t>
            </a:r>
            <a:r>
              <a:rPr dirty="0" sz="12450" spc="-58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450" spc="-25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dirty="0" sz="12450" spc="-320">
                <a:solidFill>
                  <a:srgbClr val="FFFFFF"/>
                </a:solidFill>
                <a:latin typeface="Arial"/>
                <a:cs typeface="Arial"/>
              </a:rPr>
              <a:t>Contents</a:t>
            </a:r>
            <a:endParaRPr sz="124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18435" y="3273704"/>
            <a:ext cx="584200" cy="650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100" spc="-50" b="1">
                <a:solidFill>
                  <a:srgbClr val="FFFFFF"/>
                </a:solidFill>
                <a:latin typeface="Arial"/>
                <a:cs typeface="Arial"/>
              </a:rPr>
              <a:t>01</a:t>
            </a:r>
            <a:endParaRPr sz="41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868999" y="3475139"/>
            <a:ext cx="1119505" cy="276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spc="-10">
                <a:solidFill>
                  <a:srgbClr val="FFFFFF"/>
                </a:solidFill>
                <a:latin typeface="Arial"/>
                <a:cs typeface="Arial"/>
              </a:rPr>
              <a:t>Introduction</a:t>
            </a:r>
            <a:endParaRPr sz="1650">
              <a:latin typeface="Arial"/>
              <a:cs typeface="Arial"/>
            </a:endParaRPr>
          </a:p>
        </p:txBody>
      </p:sp>
      <p:sp>
        <p:nvSpPr>
          <p:cNvPr id="2" name="object 2"/>
          <p:cNvSpPr/>
          <p:nvPr/>
        </p:nvSpPr>
        <p:spPr>
          <a:xfrm>
            <a:off x="8831148" y="4192917"/>
            <a:ext cx="5798185" cy="0"/>
          </a:xfrm>
          <a:custGeom>
            <a:avLst/>
            <a:gdLst/>
            <a:ahLst/>
            <a:cxnLst/>
            <a:rect l="l" t="t" r="r" b="b"/>
            <a:pathLst>
              <a:path w="5798184" h="0">
                <a:moveTo>
                  <a:pt x="5797727" y="0"/>
                </a:moveTo>
                <a:lnTo>
                  <a:pt x="0" y="0"/>
                </a:lnTo>
              </a:path>
            </a:pathLst>
          </a:custGeom>
          <a:ln w="9524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8818435" y="4495152"/>
            <a:ext cx="584200" cy="650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100" spc="-50" b="1">
                <a:solidFill>
                  <a:srgbClr val="FFFFFF"/>
                </a:solidFill>
                <a:latin typeface="Arial"/>
                <a:cs typeface="Arial"/>
              </a:rPr>
              <a:t>02</a:t>
            </a:r>
            <a:endParaRPr sz="41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784700" y="4705896"/>
            <a:ext cx="3855720" cy="276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>
                <a:solidFill>
                  <a:srgbClr val="FFFFFF"/>
                </a:solidFill>
                <a:latin typeface="Arial"/>
                <a:cs typeface="Arial"/>
              </a:rPr>
              <a:t>Problem</a:t>
            </a:r>
            <a:r>
              <a:rPr dirty="0" sz="165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FFFFFF"/>
                </a:solidFill>
                <a:latin typeface="Arial"/>
                <a:cs typeface="Arial"/>
              </a:rPr>
              <a:t>Statement</a:t>
            </a:r>
            <a:r>
              <a:rPr dirty="0" sz="165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dirty="0" sz="165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FFFFFF"/>
                </a:solidFill>
                <a:latin typeface="Arial"/>
                <a:cs typeface="Arial"/>
              </a:rPr>
              <a:t>Business</a:t>
            </a:r>
            <a:r>
              <a:rPr dirty="0" sz="165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FFFFFF"/>
                </a:solidFill>
                <a:latin typeface="Arial"/>
                <a:cs typeface="Arial"/>
              </a:rPr>
              <a:t>Objective</a:t>
            </a:r>
            <a:endParaRPr sz="165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831097" y="5417896"/>
            <a:ext cx="6372860" cy="0"/>
          </a:xfrm>
          <a:custGeom>
            <a:avLst/>
            <a:gdLst/>
            <a:ahLst/>
            <a:cxnLst/>
            <a:rect l="l" t="t" r="r" b="b"/>
            <a:pathLst>
              <a:path w="6372859" h="0">
                <a:moveTo>
                  <a:pt x="6372326" y="0"/>
                </a:moveTo>
                <a:lnTo>
                  <a:pt x="0" y="0"/>
                </a:lnTo>
              </a:path>
            </a:pathLst>
          </a:custGeom>
          <a:ln w="9524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8818435" y="5716600"/>
            <a:ext cx="584200" cy="650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100" spc="-50" b="1">
                <a:solidFill>
                  <a:srgbClr val="FFFFFF"/>
                </a:solidFill>
                <a:latin typeface="Arial"/>
                <a:cs typeface="Arial"/>
              </a:rPr>
              <a:t>03</a:t>
            </a:r>
            <a:endParaRPr sz="41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729440" y="5881687"/>
            <a:ext cx="1399540" cy="276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dirty="0" sz="1650" spc="-10">
                <a:solidFill>
                  <a:srgbClr val="FFFFFF"/>
                </a:solidFill>
                <a:latin typeface="Arial"/>
                <a:cs typeface="Arial"/>
              </a:rPr>
              <a:t> Overview</a:t>
            </a:r>
            <a:endParaRPr sz="16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831135" y="6639344"/>
            <a:ext cx="7052945" cy="0"/>
          </a:xfrm>
          <a:custGeom>
            <a:avLst/>
            <a:gdLst/>
            <a:ahLst/>
            <a:cxnLst/>
            <a:rect l="l" t="t" r="r" b="b"/>
            <a:pathLst>
              <a:path w="7052944" h="0">
                <a:moveTo>
                  <a:pt x="7052500" y="0"/>
                </a:moveTo>
                <a:lnTo>
                  <a:pt x="0" y="0"/>
                </a:lnTo>
              </a:path>
            </a:pathLst>
          </a:custGeom>
          <a:ln w="9524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372121"/>
            <a:ext cx="8545391" cy="291487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5157234" y="1018781"/>
            <a:ext cx="21209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45">
                <a:solidFill>
                  <a:srgbClr val="FFFFFF"/>
                </a:solidFill>
                <a:latin typeface="Arial"/>
                <a:cs typeface="Arial"/>
              </a:rPr>
              <a:t>Updated</a:t>
            </a:r>
            <a:r>
              <a:rPr dirty="0" sz="1800" spc="-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dirty="0" sz="1800" spc="-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31/05/2026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71982" y="1559610"/>
            <a:ext cx="16383000" cy="0"/>
          </a:xfrm>
          <a:custGeom>
            <a:avLst/>
            <a:gdLst/>
            <a:ahLst/>
            <a:cxnLst/>
            <a:rect l="l" t="t" r="r" b="b"/>
            <a:pathLst>
              <a:path w="16383000" h="0">
                <a:moveTo>
                  <a:pt x="16382619" y="0"/>
                </a:moveTo>
                <a:lnTo>
                  <a:pt x="0" y="0"/>
                </a:lnTo>
              </a:path>
            </a:pathLst>
          </a:custGeom>
          <a:ln w="9524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5" name="object 5"/>
          <p:cNvGrpSpPr/>
          <p:nvPr/>
        </p:nvGrpSpPr>
        <p:grpSpPr>
          <a:xfrm>
            <a:off x="557734" y="4762"/>
            <a:ext cx="16701769" cy="10282555"/>
            <a:chOff x="557734" y="4762"/>
            <a:chExt cx="16701769" cy="10282555"/>
          </a:xfrm>
        </p:grpSpPr>
        <p:sp>
          <p:nvSpPr>
            <p:cNvPr id="6" name="object 6"/>
            <p:cNvSpPr/>
            <p:nvPr/>
          </p:nvSpPr>
          <p:spPr>
            <a:xfrm>
              <a:off x="1028700" y="4762"/>
              <a:ext cx="0" cy="10282555"/>
            </a:xfrm>
            <a:custGeom>
              <a:avLst/>
              <a:gdLst/>
              <a:ahLst/>
              <a:cxnLst/>
              <a:rect l="l" t="t" r="r" b="b"/>
              <a:pathLst>
                <a:path w="0" h="10282555">
                  <a:moveTo>
                    <a:pt x="0" y="0"/>
                  </a:moveTo>
                  <a:lnTo>
                    <a:pt x="0" y="10282236"/>
                  </a:lnTo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7254600" y="4762"/>
              <a:ext cx="0" cy="10282555"/>
            </a:xfrm>
            <a:custGeom>
              <a:avLst/>
              <a:gdLst/>
              <a:ahLst/>
              <a:cxnLst/>
              <a:rect l="l" t="t" r="r" b="b"/>
              <a:pathLst>
                <a:path w="0" h="10282555">
                  <a:moveTo>
                    <a:pt x="0" y="0"/>
                  </a:moveTo>
                  <a:lnTo>
                    <a:pt x="0" y="10282236"/>
                  </a:lnTo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028700" y="8193036"/>
              <a:ext cx="16226155" cy="0"/>
            </a:xfrm>
            <a:custGeom>
              <a:avLst/>
              <a:gdLst/>
              <a:ahLst/>
              <a:cxnLst/>
              <a:rect l="l" t="t" r="r" b="b"/>
              <a:pathLst>
                <a:path w="16226155" h="0">
                  <a:moveTo>
                    <a:pt x="16225901" y="0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75574" y="2351176"/>
              <a:ext cx="4665675" cy="514523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588875" y="2351176"/>
              <a:ext cx="4665675" cy="514523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7734" y="8253679"/>
              <a:ext cx="5846826" cy="2033320"/>
            </a:xfrm>
            <a:prstGeom prst="rect">
              <a:avLst/>
            </a:prstGeom>
          </p:spPr>
        </p:pic>
      </p:grp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xfrm>
            <a:off x="1016000" y="1491195"/>
            <a:ext cx="6579870" cy="16103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400" spc="-270"/>
              <a:t>Introduction</a:t>
            </a:r>
            <a:endParaRPr sz="10400"/>
          </a:p>
        </p:txBody>
      </p:sp>
      <p:sp>
        <p:nvSpPr>
          <p:cNvPr id="13" name="object 13"/>
          <p:cNvSpPr txBox="1"/>
          <p:nvPr/>
        </p:nvSpPr>
        <p:spPr>
          <a:xfrm>
            <a:off x="1016000" y="3277222"/>
            <a:ext cx="6166485" cy="47491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22225" marR="508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FFFFFF"/>
                </a:solidFill>
                <a:latin typeface="Arial"/>
                <a:cs typeface="Arial"/>
              </a:rPr>
              <a:t>Background</a:t>
            </a:r>
            <a:r>
              <a:rPr dirty="0" sz="2000" spc="3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dirty="0" sz="2000" spc="3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XYZ</a:t>
            </a:r>
            <a:r>
              <a:rPr dirty="0" sz="2000" spc="3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Sport</a:t>
            </a:r>
            <a:r>
              <a:rPr dirty="0" sz="2000" spc="3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dirty="0" sz="2000" spc="3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2000" spc="3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company</a:t>
            </a:r>
            <a:r>
              <a:rPr dirty="0" sz="2000" spc="3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focused</a:t>
            </a:r>
            <a:r>
              <a:rPr dirty="0" sz="2000" spc="3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25">
                <a:solidFill>
                  <a:srgbClr val="FFFFFF"/>
                </a:solidFill>
                <a:latin typeface="Arial"/>
                <a:cs typeface="Arial"/>
              </a:rPr>
              <a:t>on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2000" spc="39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sporting</a:t>
            </a:r>
            <a:r>
              <a:rPr dirty="0" sz="2000" spc="39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goods</a:t>
            </a:r>
            <a:r>
              <a:rPr dirty="0" sz="2000" spc="39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industry,</a:t>
            </a:r>
            <a:r>
              <a:rPr dirty="0" sz="2000" spc="39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founded</a:t>
            </a:r>
            <a:r>
              <a:rPr dirty="0" sz="2000" spc="39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2000" spc="39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2018.</a:t>
            </a:r>
            <a:r>
              <a:rPr dirty="0" sz="2000" spc="39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Their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vision</a:t>
            </a:r>
            <a:r>
              <a:rPr dirty="0" sz="2000" spc="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dirty="0" sz="2000" spc="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2000" spc="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become</a:t>
            </a:r>
            <a:r>
              <a:rPr dirty="0" sz="2000" spc="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2000" spc="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best-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quality</a:t>
            </a:r>
            <a:r>
              <a:rPr dirty="0" sz="2000" spc="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brand</a:t>
            </a:r>
            <a:r>
              <a:rPr dirty="0" sz="2000" spc="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2000" spc="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2000" spc="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world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2000" spc="170">
                <a:solidFill>
                  <a:srgbClr val="FFFFFF"/>
                </a:solidFill>
                <a:latin typeface="Arial"/>
                <a:cs typeface="Arial"/>
              </a:rPr>
              <a:t> 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sports</a:t>
            </a:r>
            <a:r>
              <a:rPr dirty="0" sz="2000" spc="175">
                <a:solidFill>
                  <a:srgbClr val="FFFFFF"/>
                </a:solidFill>
                <a:latin typeface="Arial"/>
                <a:cs typeface="Arial"/>
              </a:rPr>
              <a:t> 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dirty="0" sz="2000" spc="175">
                <a:solidFill>
                  <a:srgbClr val="FFFFFF"/>
                </a:solidFill>
                <a:latin typeface="Arial"/>
                <a:cs typeface="Arial"/>
              </a:rPr>
              <a:t> 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providing</a:t>
            </a:r>
            <a:r>
              <a:rPr dirty="0" sz="2000" spc="170">
                <a:solidFill>
                  <a:srgbClr val="FFFFFF"/>
                </a:solidFill>
                <a:latin typeface="Arial"/>
                <a:cs typeface="Arial"/>
              </a:rPr>
              <a:t>  </a:t>
            </a:r>
            <a:r>
              <a:rPr dirty="0" sz="2000" spc="-20">
                <a:solidFill>
                  <a:srgbClr val="FFFFFF"/>
                </a:solidFill>
                <a:latin typeface="Arial"/>
                <a:cs typeface="Arial"/>
              </a:rPr>
              <a:t>high-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quality</a:t>
            </a:r>
            <a:r>
              <a:rPr dirty="0" sz="2000" spc="175">
                <a:solidFill>
                  <a:srgbClr val="FFFFFF"/>
                </a:solidFill>
                <a:latin typeface="Arial"/>
                <a:cs typeface="Arial"/>
              </a:rPr>
              <a:t> 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equipment</a:t>
            </a:r>
            <a:r>
              <a:rPr dirty="0" sz="2000" spc="175">
                <a:solidFill>
                  <a:srgbClr val="FFFFFF"/>
                </a:solidFill>
                <a:latin typeface="Arial"/>
                <a:cs typeface="Arial"/>
              </a:rPr>
              <a:t>  </a:t>
            </a:r>
            <a:r>
              <a:rPr dirty="0" sz="2000" spc="-25">
                <a:solidFill>
                  <a:srgbClr val="FFFFFF"/>
                </a:solidFill>
                <a:latin typeface="Arial"/>
                <a:cs typeface="Arial"/>
              </a:rPr>
              <a:t>for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sports</a:t>
            </a:r>
            <a:r>
              <a:rPr dirty="0" sz="200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enthusiasts</a:t>
            </a:r>
            <a:r>
              <a:rPr dirty="0" sz="200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20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Indonesia.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00"/>
              </a:spcBef>
            </a:pPr>
            <a:endParaRPr sz="2000">
              <a:latin typeface="Arial"/>
              <a:cs typeface="Arial"/>
            </a:endParaRPr>
          </a:p>
          <a:p>
            <a:pPr algn="just" marL="12700" marR="13970">
              <a:lnSpc>
                <a:spcPct val="100000"/>
              </a:lnSpc>
            </a:pPr>
            <a:r>
              <a:rPr dirty="0" sz="2000" b="1">
                <a:solidFill>
                  <a:srgbClr val="FFFFFF"/>
                </a:solidFill>
                <a:latin typeface="Arial"/>
                <a:cs typeface="Arial"/>
              </a:rPr>
              <a:t>Target</a:t>
            </a:r>
            <a:r>
              <a:rPr dirty="0" sz="2000" spc="49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FFFFFF"/>
                </a:solidFill>
                <a:latin typeface="Arial"/>
                <a:cs typeface="Arial"/>
              </a:rPr>
              <a:t>Market</a:t>
            </a:r>
            <a:r>
              <a:rPr dirty="0" sz="2000" spc="49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dirty="0" sz="2000" spc="49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FFFFFF"/>
                </a:solidFill>
                <a:latin typeface="Arial"/>
                <a:cs typeface="Arial"/>
              </a:rPr>
              <a:t>Marketing</a:t>
            </a:r>
            <a:r>
              <a:rPr dirty="0" sz="2000" spc="49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FFFFFF"/>
                </a:solidFill>
                <a:latin typeface="Arial"/>
                <a:cs typeface="Arial"/>
              </a:rPr>
              <a:t>Strategy</a:t>
            </a:r>
            <a:r>
              <a:rPr dirty="0" sz="2000" spc="-20" b="1">
                <a:solidFill>
                  <a:srgbClr val="FFFFFF"/>
                </a:solidFill>
                <a:latin typeface="Arial"/>
                <a:cs typeface="Arial"/>
              </a:rPr>
              <a:t> 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dirty="0" sz="2000" spc="-25">
                <a:solidFill>
                  <a:srgbClr val="FFFFFF"/>
                </a:solidFill>
                <a:latin typeface="Arial"/>
                <a:cs typeface="Arial"/>
              </a:rPr>
              <a:t> 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XYZ</a:t>
            </a:r>
            <a:r>
              <a:rPr dirty="0" sz="2000" spc="49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Sport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uses</a:t>
            </a:r>
            <a:r>
              <a:rPr dirty="0" sz="2000" spc="39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2000" spc="39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multichannel</a:t>
            </a:r>
            <a:r>
              <a:rPr dirty="0" sz="2000" spc="4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marketing</a:t>
            </a:r>
            <a:r>
              <a:rPr dirty="0" sz="2000" spc="4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strategy</a:t>
            </a:r>
            <a:r>
              <a:rPr dirty="0" sz="2000" spc="4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2000" spc="4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reach</a:t>
            </a:r>
            <a:r>
              <a:rPr dirty="0" sz="2000" spc="4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25">
                <a:solidFill>
                  <a:srgbClr val="FFFFFF"/>
                </a:solidFill>
                <a:latin typeface="Arial"/>
                <a:cs typeface="Arial"/>
              </a:rPr>
              <a:t>its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customers.</a:t>
            </a:r>
            <a:r>
              <a:rPr dirty="0" sz="2000" spc="5">
                <a:solidFill>
                  <a:srgbClr val="FFFFFF"/>
                </a:solidFill>
                <a:latin typeface="Arial"/>
                <a:cs typeface="Arial"/>
              </a:rPr>
              <a:t> 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2000" spc="10">
                <a:solidFill>
                  <a:srgbClr val="FFFFFF"/>
                </a:solidFill>
                <a:latin typeface="Arial"/>
                <a:cs typeface="Arial"/>
              </a:rPr>
              <a:t> 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addition</a:t>
            </a:r>
            <a:r>
              <a:rPr dirty="0" sz="2000" spc="5">
                <a:solidFill>
                  <a:srgbClr val="FFFFFF"/>
                </a:solidFill>
                <a:latin typeface="Arial"/>
                <a:cs typeface="Arial"/>
              </a:rPr>
              <a:t> 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2000" spc="10">
                <a:solidFill>
                  <a:srgbClr val="FFFFFF"/>
                </a:solidFill>
                <a:latin typeface="Arial"/>
                <a:cs typeface="Arial"/>
              </a:rPr>
              <a:t> 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distributing</a:t>
            </a:r>
            <a:r>
              <a:rPr dirty="0" sz="2000" spc="5">
                <a:solidFill>
                  <a:srgbClr val="FFFFFF"/>
                </a:solidFill>
                <a:latin typeface="Arial"/>
                <a:cs typeface="Arial"/>
              </a:rPr>
              <a:t> 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sales</a:t>
            </a:r>
            <a:r>
              <a:rPr dirty="0" sz="2000" spc="10">
                <a:solidFill>
                  <a:srgbClr val="FFFFFF"/>
                </a:solidFill>
                <a:latin typeface="Arial"/>
                <a:cs typeface="Arial"/>
              </a:rPr>
              <a:t>  </a:t>
            </a: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through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various</a:t>
            </a:r>
            <a:r>
              <a:rPr dirty="0" sz="2000" spc="360">
                <a:solidFill>
                  <a:srgbClr val="FFFFFF"/>
                </a:solidFill>
                <a:latin typeface="Arial"/>
                <a:cs typeface="Arial"/>
              </a:rPr>
              <a:t> 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retailers</a:t>
            </a:r>
            <a:r>
              <a:rPr dirty="0" sz="2000" spc="365">
                <a:solidFill>
                  <a:srgbClr val="FFFFFF"/>
                </a:solidFill>
                <a:latin typeface="Arial"/>
                <a:cs typeface="Arial"/>
              </a:rPr>
              <a:t> 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2000" spc="365">
                <a:solidFill>
                  <a:srgbClr val="FFFFFF"/>
                </a:solidFill>
                <a:latin typeface="Arial"/>
                <a:cs typeface="Arial"/>
              </a:rPr>
              <a:t> 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distributors.</a:t>
            </a:r>
            <a:r>
              <a:rPr dirty="0" sz="2000" spc="365">
                <a:solidFill>
                  <a:srgbClr val="FFFFFF"/>
                </a:solidFill>
                <a:latin typeface="Arial"/>
                <a:cs typeface="Arial"/>
              </a:rPr>
              <a:t> 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2000" spc="365">
                <a:solidFill>
                  <a:srgbClr val="FFFFFF"/>
                </a:solidFill>
                <a:latin typeface="Arial"/>
                <a:cs typeface="Arial"/>
              </a:rPr>
              <a:t>  </a:t>
            </a: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company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maintains</a:t>
            </a:r>
            <a:r>
              <a:rPr dirty="0" sz="2000" spc="55">
                <a:solidFill>
                  <a:srgbClr val="FFFFFF"/>
                </a:solidFill>
                <a:latin typeface="Arial"/>
                <a:cs typeface="Arial"/>
              </a:rPr>
              <a:t> 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2000" spc="55">
                <a:solidFill>
                  <a:srgbClr val="FFFFFF"/>
                </a:solidFill>
                <a:latin typeface="Arial"/>
                <a:cs typeface="Arial"/>
              </a:rPr>
              <a:t> 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strong</a:t>
            </a:r>
            <a:r>
              <a:rPr dirty="0" sz="2000" spc="55">
                <a:solidFill>
                  <a:srgbClr val="FFFFFF"/>
                </a:solidFill>
                <a:latin typeface="Arial"/>
                <a:cs typeface="Arial"/>
              </a:rPr>
              <a:t> 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online</a:t>
            </a:r>
            <a:r>
              <a:rPr dirty="0" sz="2000" spc="60">
                <a:solidFill>
                  <a:srgbClr val="FFFFFF"/>
                </a:solidFill>
                <a:latin typeface="Arial"/>
                <a:cs typeface="Arial"/>
              </a:rPr>
              <a:t> 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presence</a:t>
            </a:r>
            <a:r>
              <a:rPr dirty="0" sz="2000" spc="55">
                <a:solidFill>
                  <a:srgbClr val="FFFFFF"/>
                </a:solidFill>
                <a:latin typeface="Arial"/>
                <a:cs typeface="Arial"/>
              </a:rPr>
              <a:t> 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through</a:t>
            </a:r>
            <a:r>
              <a:rPr dirty="0" sz="2000" spc="55">
                <a:solidFill>
                  <a:srgbClr val="FFFFFF"/>
                </a:solidFill>
                <a:latin typeface="Arial"/>
                <a:cs typeface="Arial"/>
              </a:rPr>
              <a:t>  </a:t>
            </a: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social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media</a:t>
            </a:r>
            <a:r>
              <a:rPr dirty="0" sz="2000" spc="38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2000" spc="39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participates</a:t>
            </a:r>
            <a:r>
              <a:rPr dirty="0" sz="2000" spc="3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2000" spc="39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various</a:t>
            </a:r>
            <a:r>
              <a:rPr dirty="0" sz="2000" spc="39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sponsorships</a:t>
            </a:r>
            <a:r>
              <a:rPr dirty="0" sz="2000" spc="39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25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sporting</a:t>
            </a:r>
            <a:r>
              <a:rPr dirty="0" sz="2000" spc="3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events.</a:t>
            </a:r>
            <a:r>
              <a:rPr dirty="0" sz="2000" spc="3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Therefore,</a:t>
            </a:r>
            <a:r>
              <a:rPr dirty="0" sz="2000" spc="3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2000" spc="3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company</a:t>
            </a:r>
            <a:r>
              <a:rPr dirty="0" sz="2000" spc="3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works</a:t>
            </a:r>
            <a:r>
              <a:rPr dirty="0" sz="2000" spc="3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20">
                <a:solidFill>
                  <a:srgbClr val="FFFFFF"/>
                </a:solidFill>
                <a:latin typeface="Arial"/>
                <a:cs typeface="Arial"/>
              </a:rPr>
              <a:t>with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marketing</a:t>
            </a:r>
            <a:r>
              <a:rPr dirty="0" sz="2000" spc="325">
                <a:solidFill>
                  <a:srgbClr val="FFFFFF"/>
                </a:solidFill>
                <a:latin typeface="Arial"/>
                <a:cs typeface="Arial"/>
              </a:rPr>
              <a:t> 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agents</a:t>
            </a:r>
            <a:r>
              <a:rPr dirty="0" sz="2000" spc="330">
                <a:solidFill>
                  <a:srgbClr val="FFFFFF"/>
                </a:solidFill>
                <a:latin typeface="Arial"/>
                <a:cs typeface="Arial"/>
              </a:rPr>
              <a:t> 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such</a:t>
            </a:r>
            <a:r>
              <a:rPr dirty="0" sz="2000" spc="330">
                <a:solidFill>
                  <a:srgbClr val="FFFFFF"/>
                </a:solidFill>
                <a:latin typeface="Arial"/>
                <a:cs typeface="Arial"/>
              </a:rPr>
              <a:t> 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as</a:t>
            </a:r>
            <a:r>
              <a:rPr dirty="0" sz="2000" spc="330">
                <a:solidFill>
                  <a:srgbClr val="FFFFFF"/>
                </a:solidFill>
                <a:latin typeface="Arial"/>
                <a:cs typeface="Arial"/>
              </a:rPr>
              <a:t> 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online</a:t>
            </a:r>
            <a:r>
              <a:rPr dirty="0" sz="2000" spc="330">
                <a:solidFill>
                  <a:srgbClr val="FFFFFF"/>
                </a:solidFill>
                <a:latin typeface="Arial"/>
                <a:cs typeface="Arial"/>
              </a:rPr>
              <a:t> 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resellers</a:t>
            </a:r>
            <a:r>
              <a:rPr dirty="0" sz="2000" spc="325">
                <a:solidFill>
                  <a:srgbClr val="FFFFFF"/>
                </a:solidFill>
                <a:latin typeface="Arial"/>
                <a:cs typeface="Arial"/>
              </a:rPr>
              <a:t>  </a:t>
            </a:r>
            <a:r>
              <a:rPr dirty="0" sz="2000" spc="-25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dropshippers.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5157234" y="1018781"/>
            <a:ext cx="21209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45">
                <a:solidFill>
                  <a:srgbClr val="FFFFFF"/>
                </a:solidFill>
                <a:latin typeface="Arial"/>
                <a:cs typeface="Arial"/>
              </a:rPr>
              <a:t>Updated</a:t>
            </a:r>
            <a:r>
              <a:rPr dirty="0" sz="1800" spc="-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dirty="0" sz="1800" spc="-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31/05/2026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71982" y="2217508"/>
            <a:ext cx="16383000" cy="0"/>
          </a:xfrm>
          <a:custGeom>
            <a:avLst/>
            <a:gdLst/>
            <a:ahLst/>
            <a:cxnLst/>
            <a:rect l="l" t="t" r="r" b="b"/>
            <a:pathLst>
              <a:path w="16383000" h="0">
                <a:moveTo>
                  <a:pt x="16382619" y="0"/>
                </a:moveTo>
                <a:lnTo>
                  <a:pt x="0" y="0"/>
                </a:lnTo>
              </a:path>
            </a:pathLst>
          </a:custGeom>
          <a:ln w="9524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object 2"/>
          <p:cNvSpPr/>
          <p:nvPr/>
        </p:nvSpPr>
        <p:spPr>
          <a:xfrm>
            <a:off x="871982" y="5825223"/>
            <a:ext cx="16383000" cy="0"/>
          </a:xfrm>
          <a:custGeom>
            <a:avLst/>
            <a:gdLst/>
            <a:ahLst/>
            <a:cxnLst/>
            <a:rect l="l" t="t" r="r" b="b"/>
            <a:pathLst>
              <a:path w="16383000" h="0">
                <a:moveTo>
                  <a:pt x="16382619" y="0"/>
                </a:moveTo>
                <a:lnTo>
                  <a:pt x="0" y="0"/>
                </a:lnTo>
              </a:path>
            </a:pathLst>
          </a:custGeom>
          <a:ln w="9524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5" name="object 5"/>
          <p:cNvGrpSpPr/>
          <p:nvPr/>
        </p:nvGrpSpPr>
        <p:grpSpPr>
          <a:xfrm>
            <a:off x="985700" y="0"/>
            <a:ext cx="16273780" cy="10292080"/>
            <a:chOff x="985700" y="0"/>
            <a:chExt cx="16273780" cy="10292080"/>
          </a:xfrm>
        </p:grpSpPr>
        <p:sp>
          <p:nvSpPr>
            <p:cNvPr id="6" name="object 6"/>
            <p:cNvSpPr/>
            <p:nvPr/>
          </p:nvSpPr>
          <p:spPr>
            <a:xfrm>
              <a:off x="1028699" y="4762"/>
              <a:ext cx="0" cy="10282555"/>
            </a:xfrm>
            <a:custGeom>
              <a:avLst/>
              <a:gdLst/>
              <a:ahLst/>
              <a:cxnLst/>
              <a:rect l="l" t="t" r="r" b="b"/>
              <a:pathLst>
                <a:path w="0" h="10282555">
                  <a:moveTo>
                    <a:pt x="0" y="0"/>
                  </a:moveTo>
                  <a:lnTo>
                    <a:pt x="0" y="10282236"/>
                  </a:lnTo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7254600" y="4762"/>
              <a:ext cx="0" cy="10282555"/>
            </a:xfrm>
            <a:custGeom>
              <a:avLst/>
              <a:gdLst/>
              <a:ahLst/>
              <a:cxnLst/>
              <a:rect l="l" t="t" r="r" b="b"/>
              <a:pathLst>
                <a:path w="0" h="10282555">
                  <a:moveTo>
                    <a:pt x="0" y="0"/>
                  </a:moveTo>
                  <a:lnTo>
                    <a:pt x="0" y="10282236"/>
                  </a:lnTo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995225" y="6201460"/>
              <a:ext cx="5153660" cy="3545204"/>
            </a:xfrm>
            <a:custGeom>
              <a:avLst/>
              <a:gdLst/>
              <a:ahLst/>
              <a:cxnLst/>
              <a:rect l="l" t="t" r="r" b="b"/>
              <a:pathLst>
                <a:path w="5153660" h="3545204">
                  <a:moveTo>
                    <a:pt x="4862195" y="0"/>
                  </a:moveTo>
                  <a:lnTo>
                    <a:pt x="290920" y="0"/>
                  </a:lnTo>
                  <a:lnTo>
                    <a:pt x="245135" y="3623"/>
                  </a:lnTo>
                  <a:lnTo>
                    <a:pt x="200891" y="14278"/>
                  </a:lnTo>
                  <a:lnTo>
                    <a:pt x="158967" y="31642"/>
                  </a:lnTo>
                  <a:lnTo>
                    <a:pt x="120146" y="55392"/>
                  </a:lnTo>
                  <a:lnTo>
                    <a:pt x="85209" y="85204"/>
                  </a:lnTo>
                  <a:lnTo>
                    <a:pt x="55397" y="120142"/>
                  </a:lnTo>
                  <a:lnTo>
                    <a:pt x="31646" y="158965"/>
                  </a:lnTo>
                  <a:lnTo>
                    <a:pt x="14281" y="200890"/>
                  </a:lnTo>
                  <a:lnTo>
                    <a:pt x="3624" y="245135"/>
                  </a:lnTo>
                  <a:lnTo>
                    <a:pt x="0" y="290918"/>
                  </a:lnTo>
                  <a:lnTo>
                    <a:pt x="0" y="3253714"/>
                  </a:lnTo>
                  <a:lnTo>
                    <a:pt x="3624" y="3299497"/>
                  </a:lnTo>
                  <a:lnTo>
                    <a:pt x="14281" y="3343742"/>
                  </a:lnTo>
                  <a:lnTo>
                    <a:pt x="31646" y="3385668"/>
                  </a:lnTo>
                  <a:lnTo>
                    <a:pt x="55397" y="3424490"/>
                  </a:lnTo>
                  <a:lnTo>
                    <a:pt x="85209" y="3459429"/>
                  </a:lnTo>
                  <a:lnTo>
                    <a:pt x="120146" y="3489241"/>
                  </a:lnTo>
                  <a:lnTo>
                    <a:pt x="158967" y="3512990"/>
                  </a:lnTo>
                  <a:lnTo>
                    <a:pt x="200891" y="3530354"/>
                  </a:lnTo>
                  <a:lnTo>
                    <a:pt x="245135" y="3541009"/>
                  </a:lnTo>
                  <a:lnTo>
                    <a:pt x="290920" y="3544633"/>
                  </a:lnTo>
                  <a:lnTo>
                    <a:pt x="4862195" y="3544633"/>
                  </a:lnTo>
                  <a:lnTo>
                    <a:pt x="4907978" y="3541009"/>
                  </a:lnTo>
                  <a:lnTo>
                    <a:pt x="4952223" y="3530354"/>
                  </a:lnTo>
                  <a:lnTo>
                    <a:pt x="4994148" y="3512990"/>
                  </a:lnTo>
                  <a:lnTo>
                    <a:pt x="5032971" y="3489241"/>
                  </a:lnTo>
                  <a:lnTo>
                    <a:pt x="5067909" y="3459429"/>
                  </a:lnTo>
                  <a:lnTo>
                    <a:pt x="5097721" y="3424490"/>
                  </a:lnTo>
                  <a:lnTo>
                    <a:pt x="5121471" y="3385668"/>
                  </a:lnTo>
                  <a:lnTo>
                    <a:pt x="5138835" y="3343742"/>
                  </a:lnTo>
                  <a:lnTo>
                    <a:pt x="5149490" y="3299497"/>
                  </a:lnTo>
                  <a:lnTo>
                    <a:pt x="5153113" y="3253714"/>
                  </a:lnTo>
                  <a:lnTo>
                    <a:pt x="5153113" y="290918"/>
                  </a:lnTo>
                  <a:lnTo>
                    <a:pt x="5149490" y="245135"/>
                  </a:lnTo>
                  <a:lnTo>
                    <a:pt x="5138835" y="200890"/>
                  </a:lnTo>
                  <a:lnTo>
                    <a:pt x="5121471" y="158965"/>
                  </a:lnTo>
                  <a:lnTo>
                    <a:pt x="5097721" y="120142"/>
                  </a:lnTo>
                  <a:lnTo>
                    <a:pt x="5067909" y="85204"/>
                  </a:lnTo>
                  <a:lnTo>
                    <a:pt x="5032971" y="55392"/>
                  </a:lnTo>
                  <a:lnTo>
                    <a:pt x="4994148" y="31642"/>
                  </a:lnTo>
                  <a:lnTo>
                    <a:pt x="4952223" y="14278"/>
                  </a:lnTo>
                  <a:lnTo>
                    <a:pt x="4907978" y="3623"/>
                  </a:lnTo>
                  <a:lnTo>
                    <a:pt x="48621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995225" y="6201460"/>
              <a:ext cx="5153660" cy="3545204"/>
            </a:xfrm>
            <a:custGeom>
              <a:avLst/>
              <a:gdLst/>
              <a:ahLst/>
              <a:cxnLst/>
              <a:rect l="l" t="t" r="r" b="b"/>
              <a:pathLst>
                <a:path w="5153660" h="3545204">
                  <a:moveTo>
                    <a:pt x="290920" y="0"/>
                  </a:moveTo>
                  <a:lnTo>
                    <a:pt x="4862195" y="0"/>
                  </a:lnTo>
                  <a:lnTo>
                    <a:pt x="4907978" y="3623"/>
                  </a:lnTo>
                  <a:lnTo>
                    <a:pt x="4952223" y="14278"/>
                  </a:lnTo>
                  <a:lnTo>
                    <a:pt x="4994148" y="31642"/>
                  </a:lnTo>
                  <a:lnTo>
                    <a:pt x="5032971" y="55392"/>
                  </a:lnTo>
                  <a:lnTo>
                    <a:pt x="5067909" y="85204"/>
                  </a:lnTo>
                  <a:lnTo>
                    <a:pt x="5097721" y="120142"/>
                  </a:lnTo>
                  <a:lnTo>
                    <a:pt x="5121471" y="158965"/>
                  </a:lnTo>
                  <a:lnTo>
                    <a:pt x="5138835" y="200890"/>
                  </a:lnTo>
                  <a:lnTo>
                    <a:pt x="5149490" y="245135"/>
                  </a:lnTo>
                  <a:lnTo>
                    <a:pt x="5153113" y="290918"/>
                  </a:lnTo>
                  <a:lnTo>
                    <a:pt x="5153113" y="3253714"/>
                  </a:lnTo>
                  <a:lnTo>
                    <a:pt x="5149490" y="3299497"/>
                  </a:lnTo>
                  <a:lnTo>
                    <a:pt x="5138835" y="3343742"/>
                  </a:lnTo>
                  <a:lnTo>
                    <a:pt x="5121471" y="3385668"/>
                  </a:lnTo>
                  <a:lnTo>
                    <a:pt x="5097721" y="3424490"/>
                  </a:lnTo>
                  <a:lnTo>
                    <a:pt x="5067909" y="3459429"/>
                  </a:lnTo>
                  <a:lnTo>
                    <a:pt x="5032971" y="3489241"/>
                  </a:lnTo>
                  <a:lnTo>
                    <a:pt x="4994148" y="3512990"/>
                  </a:lnTo>
                  <a:lnTo>
                    <a:pt x="4952223" y="3530354"/>
                  </a:lnTo>
                  <a:lnTo>
                    <a:pt x="4907978" y="3541009"/>
                  </a:lnTo>
                  <a:lnTo>
                    <a:pt x="4862195" y="3544633"/>
                  </a:lnTo>
                  <a:lnTo>
                    <a:pt x="290920" y="3544633"/>
                  </a:lnTo>
                  <a:lnTo>
                    <a:pt x="245135" y="3541009"/>
                  </a:lnTo>
                  <a:lnTo>
                    <a:pt x="200891" y="3530354"/>
                  </a:lnTo>
                  <a:lnTo>
                    <a:pt x="158967" y="3512990"/>
                  </a:lnTo>
                  <a:lnTo>
                    <a:pt x="120146" y="3489241"/>
                  </a:lnTo>
                  <a:lnTo>
                    <a:pt x="85209" y="3459429"/>
                  </a:lnTo>
                  <a:lnTo>
                    <a:pt x="55397" y="3424490"/>
                  </a:lnTo>
                  <a:lnTo>
                    <a:pt x="31646" y="3385668"/>
                  </a:lnTo>
                  <a:lnTo>
                    <a:pt x="14281" y="3343742"/>
                  </a:lnTo>
                  <a:lnTo>
                    <a:pt x="3624" y="3299497"/>
                  </a:lnTo>
                  <a:lnTo>
                    <a:pt x="0" y="3253714"/>
                  </a:lnTo>
                  <a:lnTo>
                    <a:pt x="0" y="290918"/>
                  </a:lnTo>
                  <a:lnTo>
                    <a:pt x="3624" y="245135"/>
                  </a:lnTo>
                  <a:lnTo>
                    <a:pt x="14281" y="200890"/>
                  </a:lnTo>
                  <a:lnTo>
                    <a:pt x="31646" y="158965"/>
                  </a:lnTo>
                  <a:lnTo>
                    <a:pt x="55397" y="120142"/>
                  </a:lnTo>
                  <a:lnTo>
                    <a:pt x="85209" y="85204"/>
                  </a:lnTo>
                  <a:lnTo>
                    <a:pt x="120146" y="55392"/>
                  </a:lnTo>
                  <a:lnTo>
                    <a:pt x="158967" y="31642"/>
                  </a:lnTo>
                  <a:lnTo>
                    <a:pt x="200891" y="14278"/>
                  </a:lnTo>
                  <a:lnTo>
                    <a:pt x="245135" y="3623"/>
                  </a:lnTo>
                  <a:lnTo>
                    <a:pt x="290920" y="0"/>
                  </a:lnTo>
                  <a:close/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1966208" y="2289861"/>
            <a:ext cx="8281670" cy="3156585"/>
          </a:xfrm>
          <a:prstGeom prst="rect">
            <a:avLst/>
          </a:prstGeom>
        </p:spPr>
        <p:txBody>
          <a:bodyPr wrap="square" lIns="0" tIns="264795" rIns="0" bIns="0" rtlCol="0" vert="horz">
            <a:spAutoFit/>
          </a:bodyPr>
          <a:lstStyle/>
          <a:p>
            <a:pPr marL="3803650" marR="5080" indent="-3791585">
              <a:lnSpc>
                <a:spcPct val="79200"/>
              </a:lnSpc>
              <a:spcBef>
                <a:spcPts val="2085"/>
              </a:spcBef>
            </a:pPr>
            <a:r>
              <a:rPr dirty="0" sz="7950" spc="-200">
                <a:solidFill>
                  <a:srgbClr val="FFFFFF"/>
                </a:solidFill>
                <a:latin typeface="Arial"/>
                <a:cs typeface="Arial"/>
              </a:rPr>
              <a:t>Problem</a:t>
            </a:r>
            <a:r>
              <a:rPr dirty="0" sz="7950" spc="-3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7950" spc="-160">
                <a:solidFill>
                  <a:srgbClr val="FFFFFF"/>
                </a:solidFill>
                <a:latin typeface="Arial"/>
                <a:cs typeface="Arial"/>
              </a:rPr>
              <a:t>Statement </a:t>
            </a:r>
            <a:r>
              <a:rPr dirty="0" sz="7950" spc="-50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endParaRPr sz="7950">
              <a:latin typeface="Arial"/>
              <a:cs typeface="Arial"/>
            </a:endParaRPr>
          </a:p>
          <a:p>
            <a:pPr marL="52705">
              <a:lnSpc>
                <a:spcPts val="7555"/>
              </a:lnSpc>
            </a:pPr>
            <a:r>
              <a:rPr dirty="0" sz="7950" spc="-190">
                <a:solidFill>
                  <a:srgbClr val="FFFFFF"/>
                </a:solidFill>
                <a:latin typeface="Arial"/>
                <a:cs typeface="Arial"/>
              </a:rPr>
              <a:t>Business</a:t>
            </a:r>
            <a:r>
              <a:rPr dirty="0" sz="7950" spc="-3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7950" spc="-125">
                <a:solidFill>
                  <a:srgbClr val="FFFFFF"/>
                </a:solidFill>
                <a:latin typeface="Arial"/>
                <a:cs typeface="Arial"/>
              </a:rPr>
              <a:t>Objective</a:t>
            </a:r>
            <a:endParaRPr sz="79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157102" y="2468536"/>
            <a:ext cx="5779135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FFFFFF"/>
                </a:solidFill>
                <a:latin typeface="Arial"/>
                <a:cs typeface="Arial"/>
              </a:rPr>
              <a:t>Problem</a:t>
            </a:r>
            <a:r>
              <a:rPr dirty="0" sz="2000" spc="4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FFFFFF"/>
                </a:solidFill>
                <a:latin typeface="Arial"/>
                <a:cs typeface="Arial"/>
              </a:rPr>
              <a:t>Statement</a:t>
            </a:r>
            <a:r>
              <a:rPr dirty="0" sz="2000" spc="4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dirty="0" sz="2000" spc="4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Between</a:t>
            </a:r>
            <a:r>
              <a:rPr dirty="0" sz="2000" spc="4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2020</a:t>
            </a:r>
            <a:r>
              <a:rPr dirty="0" sz="2000" spc="4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until</a:t>
            </a:r>
            <a:r>
              <a:rPr dirty="0" sz="2000" spc="4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2022,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 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company  experienced  a  stagnation  in  </a:t>
            </a: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sales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revenue</a:t>
            </a:r>
            <a:r>
              <a:rPr dirty="0" sz="2000" spc="3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2000" spc="3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2000" spc="3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persistent,</a:t>
            </a:r>
            <a:r>
              <a:rPr dirty="0" sz="2000" spc="3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year-over-year</a:t>
            </a:r>
            <a:r>
              <a:rPr dirty="0" sz="2000" spc="3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decline.</a:t>
            </a:r>
            <a:endParaRPr sz="20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157102" y="3382556"/>
            <a:ext cx="489585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40715" algn="l"/>
                <a:tab pos="1311910" algn="l"/>
                <a:tab pos="2701290" algn="l"/>
                <a:tab pos="3442970" algn="l"/>
              </a:tabLst>
            </a:pPr>
            <a:r>
              <a:rPr dirty="0" sz="2000" spc="-25">
                <a:solidFill>
                  <a:srgbClr val="FFFFFF"/>
                </a:solidFill>
                <a:latin typeface="Arial"/>
                <a:cs typeface="Arial"/>
              </a:rPr>
              <a:t>So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2000" spc="-25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executive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2000" spc="-25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stakeholders</a:t>
            </a:r>
            <a:endParaRPr sz="20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157102" y="3382556"/>
            <a:ext cx="5779135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5187950">
              <a:lnSpc>
                <a:spcPct val="100000"/>
              </a:lnSpc>
              <a:spcBef>
                <a:spcPts val="100"/>
              </a:spcBef>
              <a:tabLst>
                <a:tab pos="1456055" algn="l"/>
                <a:tab pos="2080895" algn="l"/>
                <a:tab pos="2846705" algn="l"/>
                <a:tab pos="3781425" algn="l"/>
                <a:tab pos="4617085" algn="l"/>
                <a:tab pos="5171440" algn="l"/>
              </a:tabLst>
            </a:pPr>
            <a:r>
              <a:rPr dirty="0" sz="2000" spc="-20">
                <a:solidFill>
                  <a:srgbClr val="FFFFFF"/>
                </a:solidFill>
                <a:latin typeface="Arial"/>
                <a:cs typeface="Arial"/>
              </a:rPr>
              <a:t>need </a:t>
            </a: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breakdown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2000" spc="-25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2000" spc="-20">
                <a:solidFill>
                  <a:srgbClr val="FFFFFF"/>
                </a:solidFill>
                <a:latin typeface="Arial"/>
                <a:cs typeface="Arial"/>
              </a:rPr>
              <a:t>deep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insight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about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2000" spc="-25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sales</a:t>
            </a:r>
            <a:endParaRPr sz="20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157102" y="3991902"/>
            <a:ext cx="577596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25930" algn="l"/>
              </a:tabLst>
            </a:pP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performance.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	Without</a:t>
            </a:r>
            <a:r>
              <a:rPr dirty="0" sz="2000" spc="254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identifying</a:t>
            </a:r>
            <a:r>
              <a:rPr dirty="0" sz="2000" spc="254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2000" spc="254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root</a:t>
            </a:r>
            <a:r>
              <a:rPr dirty="0" sz="2000" spc="254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causes</a:t>
            </a:r>
            <a:endParaRPr sz="2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157102" y="4296574"/>
            <a:ext cx="577786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2000" spc="90">
                <a:solidFill>
                  <a:srgbClr val="FFFFFF"/>
                </a:solidFill>
                <a:latin typeface="Arial"/>
                <a:cs typeface="Arial"/>
              </a:rPr>
              <a:t> 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2000" spc="90">
                <a:solidFill>
                  <a:srgbClr val="FFFFFF"/>
                </a:solidFill>
                <a:latin typeface="Arial"/>
                <a:cs typeface="Arial"/>
              </a:rPr>
              <a:t> 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shrinking</a:t>
            </a:r>
            <a:r>
              <a:rPr dirty="0" sz="2000" spc="90">
                <a:solidFill>
                  <a:srgbClr val="FFFFFF"/>
                </a:solidFill>
                <a:latin typeface="Arial"/>
                <a:cs typeface="Arial"/>
              </a:rPr>
              <a:t> 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transaction</a:t>
            </a:r>
            <a:r>
              <a:rPr dirty="0" sz="2000" spc="90">
                <a:solidFill>
                  <a:srgbClr val="FFFFFF"/>
                </a:solidFill>
                <a:latin typeface="Arial"/>
                <a:cs typeface="Arial"/>
              </a:rPr>
              <a:t> 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sizes</a:t>
            </a:r>
            <a:r>
              <a:rPr dirty="0" sz="2000" spc="90">
                <a:solidFill>
                  <a:srgbClr val="FFFFFF"/>
                </a:solidFill>
                <a:latin typeface="Arial"/>
                <a:cs typeface="Arial"/>
              </a:rPr>
              <a:t> 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2000" spc="90">
                <a:solidFill>
                  <a:srgbClr val="FFFFFF"/>
                </a:solidFill>
                <a:latin typeface="Arial"/>
                <a:cs typeface="Arial"/>
              </a:rPr>
              <a:t>  </a:t>
            </a: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regional</a:t>
            </a:r>
            <a:endParaRPr sz="2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157102" y="4601248"/>
            <a:ext cx="577723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performance</a:t>
            </a:r>
            <a:r>
              <a:rPr dirty="0" sz="2000" spc="9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gaps,</a:t>
            </a:r>
            <a:r>
              <a:rPr dirty="0" sz="2000" spc="10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2000" spc="9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company</a:t>
            </a:r>
            <a:r>
              <a:rPr dirty="0" sz="2000" spc="10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cannot</a:t>
            </a:r>
            <a:r>
              <a:rPr dirty="0" sz="2000" spc="9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effectively</a:t>
            </a:r>
            <a:endParaRPr sz="2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157102" y="4905921"/>
            <a:ext cx="577532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31265" algn="l"/>
                <a:tab pos="1829435" algn="l"/>
                <a:tab pos="3288029" algn="l"/>
                <a:tab pos="4816475" algn="l"/>
              </a:tabLst>
            </a:pP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allocate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2000" spc="-25">
                <a:solidFill>
                  <a:srgbClr val="FFFFFF"/>
                </a:solidFill>
                <a:latin typeface="Arial"/>
                <a:cs typeface="Arial"/>
              </a:rPr>
              <a:t>its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marketing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resources,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optimize</a:t>
            </a:r>
            <a:endParaRPr sz="2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157102" y="5210593"/>
            <a:ext cx="5776595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inventory,</a:t>
            </a:r>
            <a:r>
              <a:rPr dirty="0" sz="2000" spc="5">
                <a:solidFill>
                  <a:srgbClr val="FFFFFF"/>
                </a:solidFill>
                <a:latin typeface="Arial"/>
                <a:cs typeface="Arial"/>
              </a:rPr>
              <a:t> 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or</a:t>
            </a:r>
            <a:r>
              <a:rPr dirty="0" sz="2000" spc="5">
                <a:solidFill>
                  <a:srgbClr val="FFFFFF"/>
                </a:solidFill>
                <a:latin typeface="Arial"/>
                <a:cs typeface="Arial"/>
              </a:rPr>
              <a:t> 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adjust</a:t>
            </a:r>
            <a:r>
              <a:rPr dirty="0" sz="2000" spc="5">
                <a:solidFill>
                  <a:srgbClr val="FFFFFF"/>
                </a:solidFill>
                <a:latin typeface="Arial"/>
                <a:cs typeface="Arial"/>
              </a:rPr>
              <a:t> 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its</a:t>
            </a:r>
            <a:r>
              <a:rPr dirty="0" sz="2000" spc="10">
                <a:solidFill>
                  <a:srgbClr val="FFFFFF"/>
                </a:solidFill>
                <a:latin typeface="Arial"/>
                <a:cs typeface="Arial"/>
              </a:rPr>
              <a:t> 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sales</a:t>
            </a:r>
            <a:r>
              <a:rPr dirty="0" sz="2000" spc="5">
                <a:solidFill>
                  <a:srgbClr val="FFFFFF"/>
                </a:solidFill>
                <a:latin typeface="Arial"/>
                <a:cs typeface="Arial"/>
              </a:rPr>
              <a:t> 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strategies</a:t>
            </a:r>
            <a:r>
              <a:rPr dirty="0" sz="2000" spc="5">
                <a:solidFill>
                  <a:srgbClr val="FFFFFF"/>
                </a:solidFill>
                <a:latin typeface="Arial"/>
                <a:cs typeface="Arial"/>
              </a:rPr>
              <a:t> 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2000" spc="10">
                <a:solidFill>
                  <a:srgbClr val="FFFFFF"/>
                </a:solidFill>
                <a:latin typeface="Arial"/>
                <a:cs typeface="Arial"/>
              </a:rPr>
              <a:t>  </a:t>
            </a: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drive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profitable</a:t>
            </a:r>
            <a:r>
              <a:rPr dirty="0" sz="2000" spc="-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growth.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71801" y="6257556"/>
            <a:ext cx="3954145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065" marR="508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Objective</a:t>
            </a:r>
            <a:r>
              <a:rPr dirty="0" sz="24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dirty="0" sz="2400" spc="-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dirty="0" sz="2400" spc="-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Analyze</a:t>
            </a:r>
            <a:r>
              <a:rPr dirty="0" sz="2400" spc="-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FFFFFF"/>
                </a:solidFill>
                <a:latin typeface="Arial"/>
                <a:cs typeface="Arial"/>
              </a:rPr>
              <a:t>Sales </a:t>
            </a: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product</a:t>
            </a:r>
            <a:r>
              <a:rPr dirty="0" sz="24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related</a:t>
            </a:r>
            <a:r>
              <a:rPr dirty="0" sz="2400" spc="-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24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FFFFFF"/>
                </a:solidFill>
                <a:latin typeface="Arial"/>
                <a:cs typeface="Arial"/>
              </a:rPr>
              <a:t>Average </a:t>
            </a: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Order</a:t>
            </a:r>
            <a:r>
              <a:rPr dirty="0" sz="24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Value</a:t>
            </a:r>
            <a:r>
              <a:rPr dirty="0" sz="24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20" b="1">
                <a:solidFill>
                  <a:srgbClr val="FFFFFF"/>
                </a:solidFill>
                <a:latin typeface="Arial"/>
                <a:cs typeface="Arial"/>
              </a:rPr>
              <a:t>(AOV)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71536" y="7640396"/>
            <a:ext cx="4752975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Goal:</a:t>
            </a:r>
            <a:r>
              <a:rPr dirty="0" sz="1800" spc="225">
                <a:solidFill>
                  <a:srgbClr val="FFFFFF"/>
                </a:solidFill>
                <a:latin typeface="Arial"/>
                <a:cs typeface="Arial"/>
              </a:rPr>
              <a:t>  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Determine</a:t>
            </a:r>
            <a:r>
              <a:rPr dirty="0" sz="1800" spc="229">
                <a:solidFill>
                  <a:srgbClr val="FFFFFF"/>
                </a:solidFill>
                <a:latin typeface="Arial"/>
                <a:cs typeface="Arial"/>
              </a:rPr>
              <a:t>  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how</a:t>
            </a:r>
            <a:r>
              <a:rPr dirty="0" sz="1800" spc="225">
                <a:solidFill>
                  <a:srgbClr val="FFFFFF"/>
                </a:solidFill>
                <a:latin typeface="Arial"/>
                <a:cs typeface="Arial"/>
              </a:rPr>
              <a:t>  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different</a:t>
            </a:r>
            <a:r>
              <a:rPr dirty="0" sz="1800" spc="229">
                <a:solidFill>
                  <a:srgbClr val="FFFFFF"/>
                </a:solidFill>
                <a:latin typeface="Arial"/>
                <a:cs typeface="Arial"/>
              </a:rPr>
              <a:t>  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product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categories,</a:t>
            </a:r>
            <a:r>
              <a:rPr dirty="0" sz="1800" spc="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unit</a:t>
            </a:r>
            <a:r>
              <a:rPr dirty="0" sz="1800" spc="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prices,</a:t>
            </a:r>
            <a:r>
              <a:rPr dirty="0" sz="1800" spc="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800" spc="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discount</a:t>
            </a:r>
            <a:r>
              <a:rPr dirty="0" sz="1800" spc="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strategies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are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influencing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overall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transaction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size.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171536" y="8965488"/>
            <a:ext cx="29089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40155" algn="l"/>
                <a:tab pos="1909445" algn="l"/>
                <a:tab pos="2400935" algn="l"/>
              </a:tabLst>
            </a:pP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categories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drive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most</a:t>
            </a:r>
            <a:endParaRPr sz="1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171536" y="8691168"/>
            <a:ext cx="390842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96950" algn="l"/>
                <a:tab pos="2033270" algn="l"/>
                <a:tab pos="2917190" algn="l"/>
              </a:tabLst>
            </a:pP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Focus: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Identify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which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specific</a:t>
            </a:r>
            <a:endParaRPr sz="1800">
              <a:latin typeface="Arial"/>
              <a:cs typeface="Arial"/>
            </a:endParaRPr>
          </a:p>
          <a:p>
            <a:pPr marL="3068955">
              <a:lnSpc>
                <a:spcPct val="100000"/>
              </a:lnSpc>
            </a:pP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revenue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137354" y="8691168"/>
            <a:ext cx="78930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2870" marR="5080" indent="-90805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product versus</a:t>
            </a:r>
            <a:endParaRPr sz="18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171536" y="9239808"/>
            <a:ext cx="26301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those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that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lower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AOV.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6557911" y="6196215"/>
            <a:ext cx="5172710" cy="3564254"/>
            <a:chOff x="6557911" y="6196215"/>
            <a:chExt cx="5172710" cy="3564254"/>
          </a:xfrm>
        </p:grpSpPr>
        <p:sp>
          <p:nvSpPr>
            <p:cNvPr id="26" name="object 26"/>
            <p:cNvSpPr/>
            <p:nvPr/>
          </p:nvSpPr>
          <p:spPr>
            <a:xfrm>
              <a:off x="6567436" y="6205740"/>
              <a:ext cx="5153660" cy="3545204"/>
            </a:xfrm>
            <a:custGeom>
              <a:avLst/>
              <a:gdLst/>
              <a:ahLst/>
              <a:cxnLst/>
              <a:rect l="l" t="t" r="r" b="b"/>
              <a:pathLst>
                <a:path w="5153659" h="3545204">
                  <a:moveTo>
                    <a:pt x="4862195" y="0"/>
                  </a:moveTo>
                  <a:lnTo>
                    <a:pt x="290920" y="0"/>
                  </a:lnTo>
                  <a:lnTo>
                    <a:pt x="245135" y="3623"/>
                  </a:lnTo>
                  <a:lnTo>
                    <a:pt x="200891" y="14278"/>
                  </a:lnTo>
                  <a:lnTo>
                    <a:pt x="158967" y="31642"/>
                  </a:lnTo>
                  <a:lnTo>
                    <a:pt x="120146" y="55392"/>
                  </a:lnTo>
                  <a:lnTo>
                    <a:pt x="85209" y="85204"/>
                  </a:lnTo>
                  <a:lnTo>
                    <a:pt x="55397" y="120142"/>
                  </a:lnTo>
                  <a:lnTo>
                    <a:pt x="31646" y="158965"/>
                  </a:lnTo>
                  <a:lnTo>
                    <a:pt x="14281" y="200890"/>
                  </a:lnTo>
                  <a:lnTo>
                    <a:pt x="3624" y="245135"/>
                  </a:lnTo>
                  <a:lnTo>
                    <a:pt x="0" y="290918"/>
                  </a:lnTo>
                  <a:lnTo>
                    <a:pt x="0" y="3253714"/>
                  </a:lnTo>
                  <a:lnTo>
                    <a:pt x="3624" y="3299497"/>
                  </a:lnTo>
                  <a:lnTo>
                    <a:pt x="14281" y="3343742"/>
                  </a:lnTo>
                  <a:lnTo>
                    <a:pt x="31646" y="3385668"/>
                  </a:lnTo>
                  <a:lnTo>
                    <a:pt x="55397" y="3424490"/>
                  </a:lnTo>
                  <a:lnTo>
                    <a:pt x="85209" y="3459429"/>
                  </a:lnTo>
                  <a:lnTo>
                    <a:pt x="120146" y="3489241"/>
                  </a:lnTo>
                  <a:lnTo>
                    <a:pt x="158967" y="3512990"/>
                  </a:lnTo>
                  <a:lnTo>
                    <a:pt x="200891" y="3530354"/>
                  </a:lnTo>
                  <a:lnTo>
                    <a:pt x="245135" y="3541009"/>
                  </a:lnTo>
                  <a:lnTo>
                    <a:pt x="290920" y="3544633"/>
                  </a:lnTo>
                  <a:lnTo>
                    <a:pt x="4862195" y="3544633"/>
                  </a:lnTo>
                  <a:lnTo>
                    <a:pt x="4907978" y="3541009"/>
                  </a:lnTo>
                  <a:lnTo>
                    <a:pt x="4952223" y="3530354"/>
                  </a:lnTo>
                  <a:lnTo>
                    <a:pt x="4994148" y="3512990"/>
                  </a:lnTo>
                  <a:lnTo>
                    <a:pt x="5032971" y="3489241"/>
                  </a:lnTo>
                  <a:lnTo>
                    <a:pt x="5067909" y="3459429"/>
                  </a:lnTo>
                  <a:lnTo>
                    <a:pt x="5097721" y="3424490"/>
                  </a:lnTo>
                  <a:lnTo>
                    <a:pt x="5121471" y="3385668"/>
                  </a:lnTo>
                  <a:lnTo>
                    <a:pt x="5138835" y="3343742"/>
                  </a:lnTo>
                  <a:lnTo>
                    <a:pt x="5149490" y="3299497"/>
                  </a:lnTo>
                  <a:lnTo>
                    <a:pt x="5153113" y="3253714"/>
                  </a:lnTo>
                  <a:lnTo>
                    <a:pt x="5153113" y="290918"/>
                  </a:lnTo>
                  <a:lnTo>
                    <a:pt x="5149490" y="245135"/>
                  </a:lnTo>
                  <a:lnTo>
                    <a:pt x="5138835" y="200890"/>
                  </a:lnTo>
                  <a:lnTo>
                    <a:pt x="5121471" y="158965"/>
                  </a:lnTo>
                  <a:lnTo>
                    <a:pt x="5097721" y="120142"/>
                  </a:lnTo>
                  <a:lnTo>
                    <a:pt x="5067909" y="85204"/>
                  </a:lnTo>
                  <a:lnTo>
                    <a:pt x="5032971" y="55392"/>
                  </a:lnTo>
                  <a:lnTo>
                    <a:pt x="4994148" y="31642"/>
                  </a:lnTo>
                  <a:lnTo>
                    <a:pt x="4952223" y="14278"/>
                  </a:lnTo>
                  <a:lnTo>
                    <a:pt x="4907978" y="3623"/>
                  </a:lnTo>
                  <a:lnTo>
                    <a:pt x="48621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6567436" y="6205740"/>
              <a:ext cx="5153660" cy="3545204"/>
            </a:xfrm>
            <a:custGeom>
              <a:avLst/>
              <a:gdLst/>
              <a:ahLst/>
              <a:cxnLst/>
              <a:rect l="l" t="t" r="r" b="b"/>
              <a:pathLst>
                <a:path w="5153659" h="3545204">
                  <a:moveTo>
                    <a:pt x="290920" y="0"/>
                  </a:moveTo>
                  <a:lnTo>
                    <a:pt x="4862195" y="0"/>
                  </a:lnTo>
                  <a:lnTo>
                    <a:pt x="4907978" y="3623"/>
                  </a:lnTo>
                  <a:lnTo>
                    <a:pt x="4952223" y="14278"/>
                  </a:lnTo>
                  <a:lnTo>
                    <a:pt x="4994148" y="31642"/>
                  </a:lnTo>
                  <a:lnTo>
                    <a:pt x="5032971" y="55392"/>
                  </a:lnTo>
                  <a:lnTo>
                    <a:pt x="5067909" y="85204"/>
                  </a:lnTo>
                  <a:lnTo>
                    <a:pt x="5097721" y="120142"/>
                  </a:lnTo>
                  <a:lnTo>
                    <a:pt x="5121471" y="158965"/>
                  </a:lnTo>
                  <a:lnTo>
                    <a:pt x="5138835" y="200890"/>
                  </a:lnTo>
                  <a:lnTo>
                    <a:pt x="5149490" y="245135"/>
                  </a:lnTo>
                  <a:lnTo>
                    <a:pt x="5153113" y="290918"/>
                  </a:lnTo>
                  <a:lnTo>
                    <a:pt x="5153113" y="3253714"/>
                  </a:lnTo>
                  <a:lnTo>
                    <a:pt x="5149490" y="3299497"/>
                  </a:lnTo>
                  <a:lnTo>
                    <a:pt x="5138835" y="3343742"/>
                  </a:lnTo>
                  <a:lnTo>
                    <a:pt x="5121471" y="3385668"/>
                  </a:lnTo>
                  <a:lnTo>
                    <a:pt x="5097721" y="3424490"/>
                  </a:lnTo>
                  <a:lnTo>
                    <a:pt x="5067909" y="3459429"/>
                  </a:lnTo>
                  <a:lnTo>
                    <a:pt x="5032971" y="3489241"/>
                  </a:lnTo>
                  <a:lnTo>
                    <a:pt x="4994148" y="3512990"/>
                  </a:lnTo>
                  <a:lnTo>
                    <a:pt x="4952223" y="3530354"/>
                  </a:lnTo>
                  <a:lnTo>
                    <a:pt x="4907978" y="3541009"/>
                  </a:lnTo>
                  <a:lnTo>
                    <a:pt x="4862195" y="3544633"/>
                  </a:lnTo>
                  <a:lnTo>
                    <a:pt x="290920" y="3544633"/>
                  </a:lnTo>
                  <a:lnTo>
                    <a:pt x="245135" y="3541009"/>
                  </a:lnTo>
                  <a:lnTo>
                    <a:pt x="200891" y="3530354"/>
                  </a:lnTo>
                  <a:lnTo>
                    <a:pt x="158967" y="3512990"/>
                  </a:lnTo>
                  <a:lnTo>
                    <a:pt x="120146" y="3489241"/>
                  </a:lnTo>
                  <a:lnTo>
                    <a:pt x="85209" y="3459429"/>
                  </a:lnTo>
                  <a:lnTo>
                    <a:pt x="55397" y="3424490"/>
                  </a:lnTo>
                  <a:lnTo>
                    <a:pt x="31646" y="3385668"/>
                  </a:lnTo>
                  <a:lnTo>
                    <a:pt x="14281" y="3343742"/>
                  </a:lnTo>
                  <a:lnTo>
                    <a:pt x="3624" y="3299497"/>
                  </a:lnTo>
                  <a:lnTo>
                    <a:pt x="0" y="3253714"/>
                  </a:lnTo>
                  <a:lnTo>
                    <a:pt x="0" y="290918"/>
                  </a:lnTo>
                  <a:lnTo>
                    <a:pt x="3624" y="245135"/>
                  </a:lnTo>
                  <a:lnTo>
                    <a:pt x="14281" y="200890"/>
                  </a:lnTo>
                  <a:lnTo>
                    <a:pt x="31646" y="158965"/>
                  </a:lnTo>
                  <a:lnTo>
                    <a:pt x="55397" y="120142"/>
                  </a:lnTo>
                  <a:lnTo>
                    <a:pt x="85209" y="85204"/>
                  </a:lnTo>
                  <a:lnTo>
                    <a:pt x="120146" y="55392"/>
                  </a:lnTo>
                  <a:lnTo>
                    <a:pt x="158967" y="31642"/>
                  </a:lnTo>
                  <a:lnTo>
                    <a:pt x="200891" y="14278"/>
                  </a:lnTo>
                  <a:lnTo>
                    <a:pt x="245135" y="3623"/>
                  </a:lnTo>
                  <a:lnTo>
                    <a:pt x="290920" y="0"/>
                  </a:lnTo>
                  <a:close/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7294962" y="6254712"/>
            <a:ext cx="3776345" cy="1150620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2700" marR="5080" indent="267335">
              <a:lnSpc>
                <a:spcPct val="100600"/>
              </a:lnSpc>
              <a:spcBef>
                <a:spcPts val="80"/>
              </a:spcBef>
            </a:pPr>
            <a:r>
              <a:rPr dirty="0" sz="2450" b="1">
                <a:solidFill>
                  <a:srgbClr val="FFFFFF"/>
                </a:solidFill>
                <a:latin typeface="Arial"/>
                <a:cs typeface="Arial"/>
              </a:rPr>
              <a:t>Objective</a:t>
            </a:r>
            <a:r>
              <a:rPr dirty="0" sz="245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5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dirty="0" sz="245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50" b="1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dirty="0" sz="2450" spc="-10" b="1">
                <a:solidFill>
                  <a:srgbClr val="FFFFFF"/>
                </a:solidFill>
                <a:latin typeface="Arial"/>
                <a:cs typeface="Arial"/>
              </a:rPr>
              <a:t> Evaluate </a:t>
            </a:r>
            <a:r>
              <a:rPr dirty="0" sz="2450" b="1">
                <a:solidFill>
                  <a:srgbClr val="FFFFFF"/>
                </a:solidFill>
                <a:latin typeface="Arial"/>
                <a:cs typeface="Arial"/>
              </a:rPr>
              <a:t>Regional</a:t>
            </a:r>
            <a:r>
              <a:rPr dirty="0" sz="2450" spc="-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50" b="1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245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50" b="1">
                <a:solidFill>
                  <a:srgbClr val="FFFFFF"/>
                </a:solidFill>
                <a:latin typeface="Arial"/>
                <a:cs typeface="Arial"/>
              </a:rPr>
              <a:t>Sales</a:t>
            </a:r>
            <a:r>
              <a:rPr dirty="0" sz="245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50" spc="-20" b="1">
                <a:solidFill>
                  <a:srgbClr val="FFFFFF"/>
                </a:solidFill>
                <a:latin typeface="Arial"/>
                <a:cs typeface="Arial"/>
              </a:rPr>
              <a:t>Team </a:t>
            </a:r>
            <a:r>
              <a:rPr dirty="0" sz="2450" b="1">
                <a:solidFill>
                  <a:srgbClr val="FFFFFF"/>
                </a:solidFill>
                <a:latin typeface="Arial"/>
                <a:cs typeface="Arial"/>
              </a:rPr>
              <a:t>Performance</a:t>
            </a:r>
            <a:r>
              <a:rPr dirty="0" sz="245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50" b="1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245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50" spc="-10" b="1">
                <a:solidFill>
                  <a:srgbClr val="FFFFFF"/>
                </a:solidFill>
                <a:latin typeface="Arial"/>
                <a:cs typeface="Arial"/>
              </a:rPr>
              <a:t>Maximize</a:t>
            </a:r>
            <a:endParaRPr sz="245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743751" y="7795183"/>
            <a:ext cx="44329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operations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across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regions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sales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teams.</a:t>
            </a:r>
            <a:endParaRPr sz="18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718351" y="7438313"/>
            <a:ext cx="4819015" cy="398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797560" algn="l"/>
                <a:tab pos="1748789" algn="l"/>
                <a:tab pos="3829050" algn="l"/>
                <a:tab pos="4233545" algn="l"/>
              </a:tabLst>
            </a:pP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Goal: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Assess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dirty="0" sz="1800" spc="-98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dirty="0" baseline="10204" sz="3675" spc="-1237" b="1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dirty="0" sz="1800" spc="-215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dirty="0" baseline="10204" sz="3675" spc="-22" b="1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dirty="0" baseline="10204" sz="3675" spc="-1267" b="1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dirty="0" sz="1800" spc="-18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dirty="0" baseline="10204" sz="3675" spc="-1807" b="1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ff</a:t>
            </a:r>
            <a:r>
              <a:rPr dirty="0" sz="1800" spc="-819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dirty="0" baseline="10204" sz="3675" spc="-1064" b="1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dirty="0" sz="1800" spc="-225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dirty="0" baseline="10204" sz="3675" spc="-1972" b="1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ti</a:t>
            </a:r>
            <a:r>
              <a:rPr dirty="0" sz="1800" spc="-525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dirty="0" baseline="10204" sz="3675" spc="-1297" b="1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eness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sales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743751" y="8304936"/>
            <a:ext cx="47529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09980" algn="l"/>
                <a:tab pos="2346960" algn="l"/>
                <a:tab pos="4358005" algn="l"/>
              </a:tabLst>
            </a:pP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Focus: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Pinpoint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high-performing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and</a:t>
            </a:r>
            <a:endParaRPr sz="18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743751" y="8579256"/>
            <a:ext cx="475361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underperforming</a:t>
            </a:r>
            <a:r>
              <a:rPr dirty="0" sz="1800" spc="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regions.</a:t>
            </a:r>
            <a:r>
              <a:rPr dirty="0" sz="1800" spc="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Analyze</a:t>
            </a:r>
            <a:r>
              <a:rPr dirty="0" sz="1800" spc="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which</a:t>
            </a:r>
            <a:r>
              <a:rPr dirty="0" sz="1800" spc="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sales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promotion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methods  yield the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highest return 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743751" y="9127896"/>
            <a:ext cx="475361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1368425" algn="l"/>
                <a:tab pos="1811020" algn="l"/>
                <a:tab pos="2494915" algn="l"/>
                <a:tab pos="3736340" algn="l"/>
              </a:tabLst>
            </a:pP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investment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help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reallocate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resources effectively.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12130138" y="6196215"/>
            <a:ext cx="5172710" cy="3564254"/>
            <a:chOff x="12130138" y="6196215"/>
            <a:chExt cx="5172710" cy="3564254"/>
          </a:xfrm>
        </p:grpSpPr>
        <p:sp>
          <p:nvSpPr>
            <p:cNvPr id="35" name="object 35"/>
            <p:cNvSpPr/>
            <p:nvPr/>
          </p:nvSpPr>
          <p:spPr>
            <a:xfrm>
              <a:off x="12139663" y="6205740"/>
              <a:ext cx="5153660" cy="3545204"/>
            </a:xfrm>
            <a:custGeom>
              <a:avLst/>
              <a:gdLst/>
              <a:ahLst/>
              <a:cxnLst/>
              <a:rect l="l" t="t" r="r" b="b"/>
              <a:pathLst>
                <a:path w="5153659" h="3545204">
                  <a:moveTo>
                    <a:pt x="4862195" y="0"/>
                  </a:moveTo>
                  <a:lnTo>
                    <a:pt x="290920" y="0"/>
                  </a:lnTo>
                  <a:lnTo>
                    <a:pt x="245135" y="3623"/>
                  </a:lnTo>
                  <a:lnTo>
                    <a:pt x="200891" y="14278"/>
                  </a:lnTo>
                  <a:lnTo>
                    <a:pt x="158967" y="31642"/>
                  </a:lnTo>
                  <a:lnTo>
                    <a:pt x="120146" y="55392"/>
                  </a:lnTo>
                  <a:lnTo>
                    <a:pt x="85209" y="85204"/>
                  </a:lnTo>
                  <a:lnTo>
                    <a:pt x="55397" y="120142"/>
                  </a:lnTo>
                  <a:lnTo>
                    <a:pt x="31646" y="158965"/>
                  </a:lnTo>
                  <a:lnTo>
                    <a:pt x="14281" y="200890"/>
                  </a:lnTo>
                  <a:lnTo>
                    <a:pt x="3624" y="245135"/>
                  </a:lnTo>
                  <a:lnTo>
                    <a:pt x="0" y="290918"/>
                  </a:lnTo>
                  <a:lnTo>
                    <a:pt x="0" y="3253714"/>
                  </a:lnTo>
                  <a:lnTo>
                    <a:pt x="3624" y="3299497"/>
                  </a:lnTo>
                  <a:lnTo>
                    <a:pt x="14281" y="3343742"/>
                  </a:lnTo>
                  <a:lnTo>
                    <a:pt x="31646" y="3385668"/>
                  </a:lnTo>
                  <a:lnTo>
                    <a:pt x="55397" y="3424490"/>
                  </a:lnTo>
                  <a:lnTo>
                    <a:pt x="85209" y="3459429"/>
                  </a:lnTo>
                  <a:lnTo>
                    <a:pt x="120146" y="3489241"/>
                  </a:lnTo>
                  <a:lnTo>
                    <a:pt x="158967" y="3512990"/>
                  </a:lnTo>
                  <a:lnTo>
                    <a:pt x="200891" y="3530354"/>
                  </a:lnTo>
                  <a:lnTo>
                    <a:pt x="245135" y="3541009"/>
                  </a:lnTo>
                  <a:lnTo>
                    <a:pt x="290920" y="3544633"/>
                  </a:lnTo>
                  <a:lnTo>
                    <a:pt x="4862195" y="3544633"/>
                  </a:lnTo>
                  <a:lnTo>
                    <a:pt x="4907978" y="3541009"/>
                  </a:lnTo>
                  <a:lnTo>
                    <a:pt x="4952223" y="3530354"/>
                  </a:lnTo>
                  <a:lnTo>
                    <a:pt x="4994148" y="3512990"/>
                  </a:lnTo>
                  <a:lnTo>
                    <a:pt x="5032971" y="3489241"/>
                  </a:lnTo>
                  <a:lnTo>
                    <a:pt x="5067909" y="3459429"/>
                  </a:lnTo>
                  <a:lnTo>
                    <a:pt x="5097721" y="3424490"/>
                  </a:lnTo>
                  <a:lnTo>
                    <a:pt x="5121471" y="3385668"/>
                  </a:lnTo>
                  <a:lnTo>
                    <a:pt x="5138835" y="3343742"/>
                  </a:lnTo>
                  <a:lnTo>
                    <a:pt x="5149490" y="3299497"/>
                  </a:lnTo>
                  <a:lnTo>
                    <a:pt x="5153113" y="3253714"/>
                  </a:lnTo>
                  <a:lnTo>
                    <a:pt x="5153113" y="290918"/>
                  </a:lnTo>
                  <a:lnTo>
                    <a:pt x="5149490" y="245135"/>
                  </a:lnTo>
                  <a:lnTo>
                    <a:pt x="5138835" y="200890"/>
                  </a:lnTo>
                  <a:lnTo>
                    <a:pt x="5121471" y="158965"/>
                  </a:lnTo>
                  <a:lnTo>
                    <a:pt x="5097721" y="120142"/>
                  </a:lnTo>
                  <a:lnTo>
                    <a:pt x="5067909" y="85204"/>
                  </a:lnTo>
                  <a:lnTo>
                    <a:pt x="5032971" y="55392"/>
                  </a:lnTo>
                  <a:lnTo>
                    <a:pt x="4994148" y="31642"/>
                  </a:lnTo>
                  <a:lnTo>
                    <a:pt x="4952223" y="14278"/>
                  </a:lnTo>
                  <a:lnTo>
                    <a:pt x="4907978" y="3623"/>
                  </a:lnTo>
                  <a:lnTo>
                    <a:pt x="48621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12139663" y="6205740"/>
              <a:ext cx="5153660" cy="3545204"/>
            </a:xfrm>
            <a:custGeom>
              <a:avLst/>
              <a:gdLst/>
              <a:ahLst/>
              <a:cxnLst/>
              <a:rect l="l" t="t" r="r" b="b"/>
              <a:pathLst>
                <a:path w="5153659" h="3545204">
                  <a:moveTo>
                    <a:pt x="290920" y="0"/>
                  </a:moveTo>
                  <a:lnTo>
                    <a:pt x="4862195" y="0"/>
                  </a:lnTo>
                  <a:lnTo>
                    <a:pt x="4907978" y="3623"/>
                  </a:lnTo>
                  <a:lnTo>
                    <a:pt x="4952223" y="14278"/>
                  </a:lnTo>
                  <a:lnTo>
                    <a:pt x="4994148" y="31642"/>
                  </a:lnTo>
                  <a:lnTo>
                    <a:pt x="5032971" y="55392"/>
                  </a:lnTo>
                  <a:lnTo>
                    <a:pt x="5067909" y="85204"/>
                  </a:lnTo>
                  <a:lnTo>
                    <a:pt x="5097721" y="120142"/>
                  </a:lnTo>
                  <a:lnTo>
                    <a:pt x="5121471" y="158965"/>
                  </a:lnTo>
                  <a:lnTo>
                    <a:pt x="5138835" y="200890"/>
                  </a:lnTo>
                  <a:lnTo>
                    <a:pt x="5149490" y="245135"/>
                  </a:lnTo>
                  <a:lnTo>
                    <a:pt x="5153113" y="290918"/>
                  </a:lnTo>
                  <a:lnTo>
                    <a:pt x="5153113" y="3253714"/>
                  </a:lnTo>
                  <a:lnTo>
                    <a:pt x="5149490" y="3299497"/>
                  </a:lnTo>
                  <a:lnTo>
                    <a:pt x="5138835" y="3343742"/>
                  </a:lnTo>
                  <a:lnTo>
                    <a:pt x="5121471" y="3385668"/>
                  </a:lnTo>
                  <a:lnTo>
                    <a:pt x="5097721" y="3424490"/>
                  </a:lnTo>
                  <a:lnTo>
                    <a:pt x="5067909" y="3459429"/>
                  </a:lnTo>
                  <a:lnTo>
                    <a:pt x="5032971" y="3489241"/>
                  </a:lnTo>
                  <a:lnTo>
                    <a:pt x="4994148" y="3512990"/>
                  </a:lnTo>
                  <a:lnTo>
                    <a:pt x="4952223" y="3530354"/>
                  </a:lnTo>
                  <a:lnTo>
                    <a:pt x="4907978" y="3541009"/>
                  </a:lnTo>
                  <a:lnTo>
                    <a:pt x="4862195" y="3544633"/>
                  </a:lnTo>
                  <a:lnTo>
                    <a:pt x="290920" y="3544633"/>
                  </a:lnTo>
                  <a:lnTo>
                    <a:pt x="245135" y="3541009"/>
                  </a:lnTo>
                  <a:lnTo>
                    <a:pt x="200891" y="3530354"/>
                  </a:lnTo>
                  <a:lnTo>
                    <a:pt x="158967" y="3512990"/>
                  </a:lnTo>
                  <a:lnTo>
                    <a:pt x="120146" y="3489241"/>
                  </a:lnTo>
                  <a:lnTo>
                    <a:pt x="85209" y="3459429"/>
                  </a:lnTo>
                  <a:lnTo>
                    <a:pt x="55397" y="3424490"/>
                  </a:lnTo>
                  <a:lnTo>
                    <a:pt x="31646" y="3385668"/>
                  </a:lnTo>
                  <a:lnTo>
                    <a:pt x="14281" y="3343742"/>
                  </a:lnTo>
                  <a:lnTo>
                    <a:pt x="3624" y="3299497"/>
                  </a:lnTo>
                  <a:lnTo>
                    <a:pt x="0" y="3253714"/>
                  </a:lnTo>
                  <a:lnTo>
                    <a:pt x="0" y="290918"/>
                  </a:lnTo>
                  <a:lnTo>
                    <a:pt x="3624" y="245135"/>
                  </a:lnTo>
                  <a:lnTo>
                    <a:pt x="14281" y="200890"/>
                  </a:lnTo>
                  <a:lnTo>
                    <a:pt x="31646" y="158965"/>
                  </a:lnTo>
                  <a:lnTo>
                    <a:pt x="55397" y="120142"/>
                  </a:lnTo>
                  <a:lnTo>
                    <a:pt x="85209" y="85204"/>
                  </a:lnTo>
                  <a:lnTo>
                    <a:pt x="120146" y="55392"/>
                  </a:lnTo>
                  <a:lnTo>
                    <a:pt x="158967" y="31642"/>
                  </a:lnTo>
                  <a:lnTo>
                    <a:pt x="200891" y="14278"/>
                  </a:lnTo>
                  <a:lnTo>
                    <a:pt x="245135" y="3623"/>
                  </a:lnTo>
                  <a:lnTo>
                    <a:pt x="290920" y="0"/>
                  </a:lnTo>
                  <a:close/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12315964" y="6261849"/>
            <a:ext cx="4754245" cy="21075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252095" marR="244475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Objective</a:t>
            </a:r>
            <a:r>
              <a:rPr dirty="0" sz="24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r>
              <a:rPr dirty="0" sz="2400" spc="-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dirty="0" sz="2400" spc="-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Analyze</a:t>
            </a:r>
            <a:r>
              <a:rPr dirty="0" sz="2400" spc="-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FFFFFF"/>
                </a:solidFill>
                <a:latin typeface="Arial"/>
                <a:cs typeface="Arial"/>
              </a:rPr>
              <a:t>Partner </a:t>
            </a: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Store</a:t>
            </a:r>
            <a:r>
              <a:rPr dirty="0" sz="2400" spc="-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Behavior</a:t>
            </a:r>
            <a:r>
              <a:rPr dirty="0" sz="2400" spc="-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2400" spc="-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Drive</a:t>
            </a:r>
            <a:r>
              <a:rPr dirty="0" sz="2400" spc="-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FFFFFF"/>
                </a:solidFill>
                <a:latin typeface="Arial"/>
                <a:cs typeface="Arial"/>
              </a:rPr>
              <a:t>High-</a:t>
            </a: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Value</a:t>
            </a:r>
            <a:r>
              <a:rPr dirty="0" sz="24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B2B</a:t>
            </a:r>
            <a:r>
              <a:rPr dirty="0" sz="24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FFFFFF"/>
                </a:solidFill>
                <a:latin typeface="Arial"/>
                <a:cs typeface="Arial"/>
              </a:rPr>
              <a:t>Transactions</a:t>
            </a:r>
            <a:endParaRPr sz="2400">
              <a:latin typeface="Arial"/>
              <a:cs typeface="Arial"/>
            </a:endParaRPr>
          </a:p>
          <a:p>
            <a:pPr algn="just" marL="12700" marR="5080">
              <a:lnSpc>
                <a:spcPct val="100000"/>
              </a:lnSpc>
              <a:spcBef>
                <a:spcPts val="127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Goal:</a:t>
            </a:r>
            <a:r>
              <a:rPr dirty="0" sz="1800" spc="1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Understand</a:t>
            </a:r>
            <a:r>
              <a:rPr dirty="0" sz="1800" spc="18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purchasing</a:t>
            </a:r>
            <a:r>
              <a:rPr dirty="0" sz="1800" spc="1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patterns</a:t>
            </a:r>
            <a:r>
              <a:rPr dirty="0" sz="1800" spc="18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among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B2B</a:t>
            </a:r>
            <a:r>
              <a:rPr dirty="0" sz="1800" spc="220">
                <a:solidFill>
                  <a:srgbClr val="FFFFFF"/>
                </a:solidFill>
                <a:latin typeface="Arial"/>
                <a:cs typeface="Arial"/>
              </a:rPr>
              <a:t>  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retail</a:t>
            </a:r>
            <a:r>
              <a:rPr dirty="0" sz="1800" spc="225">
                <a:solidFill>
                  <a:srgbClr val="FFFFFF"/>
                </a:solidFill>
                <a:latin typeface="Arial"/>
                <a:cs typeface="Arial"/>
              </a:rPr>
              <a:t>  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800" spc="220">
                <a:solidFill>
                  <a:srgbClr val="FFFFFF"/>
                </a:solidFill>
                <a:latin typeface="Arial"/>
                <a:cs typeface="Arial"/>
              </a:rPr>
              <a:t>  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distributor</a:t>
            </a:r>
            <a:r>
              <a:rPr dirty="0" sz="1800" spc="225">
                <a:solidFill>
                  <a:srgbClr val="FFFFFF"/>
                </a:solidFill>
                <a:latin typeface="Arial"/>
                <a:cs typeface="Arial"/>
              </a:rPr>
              <a:t>  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partners</a:t>
            </a:r>
            <a:r>
              <a:rPr dirty="0" sz="1800" spc="220">
                <a:solidFill>
                  <a:srgbClr val="FFFFFF"/>
                </a:solidFill>
                <a:latin typeface="Arial"/>
                <a:cs typeface="Arial"/>
              </a:rPr>
              <a:t>   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encourage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larger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bulk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orders.</a:t>
            </a:r>
            <a:endParaRPr sz="18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2315964" y="8571636"/>
            <a:ext cx="71056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Focus: stores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3184993" y="8571636"/>
            <a:ext cx="76200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1120" marR="5080" indent="-59055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Identify based</a:t>
            </a:r>
            <a:endParaRPr sz="18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4105032" y="8571636"/>
            <a:ext cx="296672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0010" marR="5080" indent="-67945">
              <a:lnSpc>
                <a:spcPct val="100000"/>
              </a:lnSpc>
              <a:spcBef>
                <a:spcPts val="100"/>
              </a:spcBef>
              <a:tabLst>
                <a:tab pos="513715" algn="l"/>
                <a:tab pos="639445" algn="l"/>
                <a:tab pos="1192530" algn="l"/>
                <a:tab pos="1390015" algn="l"/>
                <a:tab pos="2127250" algn="l"/>
                <a:tab pos="2227580" algn="l"/>
              </a:tabLst>
            </a:pP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most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valuable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		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partner 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on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		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their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		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total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revenue</a:t>
            </a:r>
            <a:endParaRPr sz="18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2315964" y="9120276"/>
            <a:ext cx="33775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contribution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order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frequency.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63009" y="0"/>
            <a:ext cx="0" cy="10282555"/>
          </a:xfrm>
          <a:custGeom>
            <a:avLst/>
            <a:gdLst/>
            <a:ahLst/>
            <a:cxnLst/>
            <a:rect l="l" t="t" r="r" b="b"/>
            <a:pathLst>
              <a:path w="0" h="10282555">
                <a:moveTo>
                  <a:pt x="0" y="0"/>
                </a:moveTo>
                <a:lnTo>
                  <a:pt x="0" y="10282236"/>
                </a:lnTo>
              </a:path>
            </a:pathLst>
          </a:custGeom>
          <a:ln w="9524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5157234" y="1018781"/>
            <a:ext cx="21209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45">
                <a:solidFill>
                  <a:srgbClr val="FFFFFF"/>
                </a:solidFill>
                <a:latin typeface="Arial"/>
                <a:cs typeface="Arial"/>
              </a:rPr>
              <a:t>Updated</a:t>
            </a:r>
            <a:r>
              <a:rPr dirty="0" sz="1800" spc="-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dirty="0" sz="1800" spc="-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31/05/2026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71982" y="1875802"/>
            <a:ext cx="16383000" cy="0"/>
          </a:xfrm>
          <a:custGeom>
            <a:avLst/>
            <a:gdLst/>
            <a:ahLst/>
            <a:cxnLst/>
            <a:rect l="l" t="t" r="r" b="b"/>
            <a:pathLst>
              <a:path w="16383000" h="0">
                <a:moveTo>
                  <a:pt x="16382619" y="0"/>
                </a:moveTo>
                <a:lnTo>
                  <a:pt x="0" y="0"/>
                </a:lnTo>
              </a:path>
            </a:pathLst>
          </a:custGeom>
          <a:ln w="9524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7254601" y="4762"/>
            <a:ext cx="0" cy="10282555"/>
          </a:xfrm>
          <a:custGeom>
            <a:avLst/>
            <a:gdLst/>
            <a:ahLst/>
            <a:cxnLst/>
            <a:rect l="l" t="t" r="r" b="b"/>
            <a:pathLst>
              <a:path w="0" h="10282555">
                <a:moveTo>
                  <a:pt x="0" y="0"/>
                </a:moveTo>
                <a:lnTo>
                  <a:pt x="0" y="10282236"/>
                </a:lnTo>
              </a:path>
            </a:pathLst>
          </a:custGeom>
          <a:ln w="9524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65"/>
              <a:t>Data</a:t>
            </a:r>
            <a:r>
              <a:rPr dirty="0" spc="-480"/>
              <a:t> </a:t>
            </a:r>
            <a:r>
              <a:rPr dirty="0" spc="-175"/>
              <a:t>Overview</a:t>
            </a: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2721" y="3227717"/>
            <a:ext cx="9203029" cy="507368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0341052" y="3318649"/>
            <a:ext cx="6442710" cy="6162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226695" marR="5080" indent="-213995">
              <a:lnSpc>
                <a:spcPct val="125800"/>
              </a:lnSpc>
              <a:spcBef>
                <a:spcPts val="100"/>
              </a:spcBef>
              <a:buChar char="•"/>
              <a:tabLst>
                <a:tab pos="228600" algn="l"/>
              </a:tabLst>
            </a:pPr>
            <a:r>
              <a:rPr dirty="0" sz="2000" spc="-55">
                <a:solidFill>
                  <a:srgbClr val="FFFFFF"/>
                </a:solidFill>
                <a:latin typeface="Arial"/>
                <a:cs typeface="Arial"/>
              </a:rPr>
              <a:t>Core</a:t>
            </a:r>
            <a:r>
              <a:rPr dirty="0" sz="20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75">
                <a:solidFill>
                  <a:srgbClr val="FFFFFF"/>
                </a:solidFill>
                <a:latin typeface="Arial"/>
                <a:cs typeface="Arial"/>
              </a:rPr>
              <a:t>Transactions:</a:t>
            </a:r>
            <a:r>
              <a:rPr dirty="0" sz="2000" spc="-45">
                <a:solidFill>
                  <a:srgbClr val="FFFFFF"/>
                </a:solidFill>
                <a:latin typeface="Arial"/>
                <a:cs typeface="Arial"/>
              </a:rPr>
              <a:t> The </a:t>
            </a:r>
            <a:r>
              <a:rPr dirty="0" sz="2000" spc="-75">
                <a:solidFill>
                  <a:srgbClr val="FFFFFF"/>
                </a:solidFill>
                <a:latin typeface="Arial"/>
                <a:cs typeface="Arial"/>
              </a:rPr>
              <a:t>database</a:t>
            </a:r>
            <a:r>
              <a:rPr dirty="0" sz="20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dirty="0" sz="20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80">
                <a:solidFill>
                  <a:srgbClr val="FFFFFF"/>
                </a:solidFill>
                <a:latin typeface="Arial"/>
                <a:cs typeface="Arial"/>
              </a:rPr>
              <a:t>centralized</a:t>
            </a:r>
            <a:r>
              <a:rPr dirty="0" sz="20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70">
                <a:solidFill>
                  <a:srgbClr val="FFFFFF"/>
                </a:solidFill>
                <a:latin typeface="Arial"/>
                <a:cs typeface="Arial"/>
              </a:rPr>
              <a:t>around</a:t>
            </a:r>
            <a:r>
              <a:rPr dirty="0" sz="20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25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dirty="0" sz="2000" spc="-25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Sales</a:t>
            </a:r>
            <a:r>
              <a:rPr dirty="0" sz="2000" spc="-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Order</a:t>
            </a:r>
            <a:r>
              <a:rPr dirty="0" sz="2000" spc="-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45">
                <a:solidFill>
                  <a:srgbClr val="FFFFFF"/>
                </a:solidFill>
                <a:latin typeface="Arial"/>
                <a:cs typeface="Arial"/>
              </a:rPr>
              <a:t>table(using</a:t>
            </a:r>
            <a:r>
              <a:rPr dirty="0" sz="2000" spc="-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star</a:t>
            </a:r>
            <a:r>
              <a:rPr dirty="0" sz="2000" spc="-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30">
                <a:solidFill>
                  <a:srgbClr val="FFFFFF"/>
                </a:solidFill>
                <a:latin typeface="Arial"/>
                <a:cs typeface="Arial"/>
              </a:rPr>
              <a:t>schema),</a:t>
            </a:r>
            <a:r>
              <a:rPr dirty="0" sz="2000" spc="-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which</a:t>
            </a:r>
            <a:r>
              <a:rPr dirty="0" sz="2000" spc="-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20">
                <a:solidFill>
                  <a:srgbClr val="FFFFFF"/>
                </a:solidFill>
                <a:latin typeface="Arial"/>
                <a:cs typeface="Arial"/>
              </a:rPr>
              <a:t>records</a:t>
            </a:r>
            <a:r>
              <a:rPr dirty="0" sz="2000" spc="-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25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dirty="0" sz="2000" spc="-25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2000" spc="-75">
                <a:solidFill>
                  <a:srgbClr val="FFFFFF"/>
                </a:solidFill>
                <a:latin typeface="Arial"/>
                <a:cs typeface="Arial"/>
              </a:rPr>
              <a:t>transaction</a:t>
            </a:r>
            <a:r>
              <a:rPr dirty="0" sz="20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80">
                <a:solidFill>
                  <a:srgbClr val="FFFFFF"/>
                </a:solidFill>
                <a:latin typeface="Arial"/>
                <a:cs typeface="Arial"/>
              </a:rPr>
              <a:t>details</a:t>
            </a:r>
            <a:r>
              <a:rPr dirty="0" sz="20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6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20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70">
                <a:solidFill>
                  <a:srgbClr val="FFFFFF"/>
                </a:solidFill>
                <a:latin typeface="Arial"/>
                <a:cs typeface="Arial"/>
              </a:rPr>
              <a:t>links</a:t>
            </a:r>
            <a:r>
              <a:rPr dirty="0" sz="20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80">
                <a:solidFill>
                  <a:srgbClr val="FFFFFF"/>
                </a:solidFill>
                <a:latin typeface="Arial"/>
                <a:cs typeface="Arial"/>
              </a:rPr>
              <a:t>directly</a:t>
            </a:r>
            <a:r>
              <a:rPr dirty="0" sz="20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2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20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70">
                <a:solidFill>
                  <a:srgbClr val="FFFFFF"/>
                </a:solidFill>
                <a:latin typeface="Arial"/>
                <a:cs typeface="Arial"/>
              </a:rPr>
              <a:t>Order</a:t>
            </a:r>
            <a:r>
              <a:rPr dirty="0" sz="20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65">
                <a:solidFill>
                  <a:srgbClr val="FFFFFF"/>
                </a:solidFill>
                <a:latin typeface="Arial"/>
                <a:cs typeface="Arial"/>
              </a:rPr>
              <a:t>Items</a:t>
            </a:r>
            <a:r>
              <a:rPr dirty="0" sz="20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30">
                <a:solidFill>
                  <a:srgbClr val="FFFFFF"/>
                </a:solidFill>
                <a:latin typeface="Arial"/>
                <a:cs typeface="Arial"/>
              </a:rPr>
              <a:t>(specific 	products</a:t>
            </a:r>
            <a:r>
              <a:rPr dirty="0" sz="20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20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40">
                <a:solidFill>
                  <a:srgbClr val="FFFFFF"/>
                </a:solidFill>
                <a:latin typeface="Arial"/>
                <a:cs typeface="Arial"/>
              </a:rPr>
              <a:t>quantities</a:t>
            </a:r>
            <a:r>
              <a:rPr dirty="0" sz="20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sold)</a:t>
            </a:r>
            <a:r>
              <a:rPr dirty="0" sz="20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20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25">
                <a:solidFill>
                  <a:srgbClr val="FFFFFF"/>
                </a:solidFill>
                <a:latin typeface="Arial"/>
                <a:cs typeface="Arial"/>
              </a:rPr>
              <a:t>Invoices</a:t>
            </a:r>
            <a:r>
              <a:rPr dirty="0" sz="20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35">
                <a:solidFill>
                  <a:srgbClr val="FFFFFF"/>
                </a:solidFill>
                <a:latin typeface="Arial"/>
                <a:cs typeface="Arial"/>
              </a:rPr>
              <a:t>(billing, </a:t>
            </a: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taxes, </a:t>
            </a: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2000" spc="-7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2000" spc="-114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80">
                <a:solidFill>
                  <a:srgbClr val="FFFFFF"/>
                </a:solidFill>
                <a:latin typeface="Arial"/>
                <a:cs typeface="Arial"/>
              </a:rPr>
              <a:t>shipping</a:t>
            </a:r>
            <a:r>
              <a:rPr dirty="0" sz="2000" spc="-1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logistics).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20"/>
              </a:spcBef>
              <a:buClr>
                <a:srgbClr val="FFFFFF"/>
              </a:buClr>
              <a:buFont typeface="Arial"/>
              <a:buChar char="•"/>
            </a:pPr>
            <a:endParaRPr sz="2000">
              <a:latin typeface="Arial"/>
              <a:cs typeface="Arial"/>
            </a:endParaRPr>
          </a:p>
          <a:p>
            <a:pPr algn="just" marL="226695" marR="5080" indent="-213995">
              <a:lnSpc>
                <a:spcPct val="125800"/>
              </a:lnSpc>
              <a:buChar char="•"/>
              <a:tabLst>
                <a:tab pos="228600" algn="l"/>
              </a:tabLst>
            </a:pPr>
            <a:r>
              <a:rPr dirty="0" sz="2000" spc="-75">
                <a:solidFill>
                  <a:srgbClr val="FFFFFF"/>
                </a:solidFill>
                <a:latin typeface="Arial"/>
                <a:cs typeface="Arial"/>
              </a:rPr>
              <a:t>Stakeholders:</a:t>
            </a:r>
            <a:r>
              <a:rPr dirty="0" sz="2000" spc="-50">
                <a:solidFill>
                  <a:srgbClr val="FFFFFF"/>
                </a:solidFill>
                <a:latin typeface="Arial"/>
                <a:cs typeface="Arial"/>
              </a:rPr>
              <a:t> The </a:t>
            </a:r>
            <a:r>
              <a:rPr dirty="0" sz="2000" spc="-70">
                <a:solidFill>
                  <a:srgbClr val="FFFFFF"/>
                </a:solidFill>
                <a:latin typeface="Arial"/>
                <a:cs typeface="Arial"/>
              </a:rPr>
              <a:t>model</a:t>
            </a:r>
            <a:r>
              <a:rPr dirty="0" sz="20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65">
                <a:solidFill>
                  <a:srgbClr val="FFFFFF"/>
                </a:solidFill>
                <a:latin typeface="Arial"/>
                <a:cs typeface="Arial"/>
              </a:rPr>
              <a:t>tracks</a:t>
            </a:r>
            <a:r>
              <a:rPr dirty="0" sz="20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4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20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40">
                <a:solidFill>
                  <a:srgbClr val="FFFFFF"/>
                </a:solidFill>
                <a:latin typeface="Arial"/>
                <a:cs typeface="Arial"/>
              </a:rPr>
              <a:t>key</a:t>
            </a:r>
            <a:r>
              <a:rPr dirty="0" sz="20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75">
                <a:solidFill>
                  <a:srgbClr val="FFFFFF"/>
                </a:solidFill>
                <a:latin typeface="Arial"/>
                <a:cs typeface="Arial"/>
              </a:rPr>
              <a:t>players</a:t>
            </a:r>
            <a:r>
              <a:rPr dirty="0" sz="20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80">
                <a:solidFill>
                  <a:srgbClr val="FFFFFF"/>
                </a:solidFill>
                <a:latin typeface="Arial"/>
                <a:cs typeface="Arial"/>
              </a:rPr>
              <a:t>involved</a:t>
            </a:r>
            <a:r>
              <a:rPr dirty="0" sz="20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25">
                <a:solidFill>
                  <a:srgbClr val="FFFFFF"/>
                </a:solidFill>
                <a:latin typeface="Arial"/>
                <a:cs typeface="Arial"/>
              </a:rPr>
              <a:t>in </a:t>
            </a:r>
            <a:r>
              <a:rPr dirty="0" sz="2000" spc="-25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2000" spc="-80">
                <a:solidFill>
                  <a:srgbClr val="FFFFFF"/>
                </a:solidFill>
                <a:latin typeface="Arial"/>
                <a:cs typeface="Arial"/>
              </a:rPr>
              <a:t>every</a:t>
            </a:r>
            <a:r>
              <a:rPr dirty="0" sz="20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85">
                <a:solidFill>
                  <a:srgbClr val="FFFFFF"/>
                </a:solidFill>
                <a:latin typeface="Arial"/>
                <a:cs typeface="Arial"/>
              </a:rPr>
              <a:t>sale</a:t>
            </a:r>
            <a:r>
              <a:rPr dirty="0" sz="20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80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dirty="0" sz="20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90">
                <a:solidFill>
                  <a:srgbClr val="FFFFFF"/>
                </a:solidFill>
                <a:latin typeface="Arial"/>
                <a:cs typeface="Arial"/>
              </a:rPr>
              <a:t>linking</a:t>
            </a:r>
            <a:r>
              <a:rPr dirty="0" sz="20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85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20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80">
                <a:solidFill>
                  <a:srgbClr val="FFFFFF"/>
                </a:solidFill>
                <a:latin typeface="Arial"/>
                <a:cs typeface="Arial"/>
              </a:rPr>
              <a:t>transaction</a:t>
            </a:r>
            <a:r>
              <a:rPr dirty="0" sz="20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75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20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85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20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85">
                <a:solidFill>
                  <a:srgbClr val="FFFFFF"/>
                </a:solidFill>
                <a:latin typeface="Arial"/>
                <a:cs typeface="Arial"/>
              </a:rPr>
              <a:t>Patner</a:t>
            </a:r>
            <a:r>
              <a:rPr dirty="0" sz="20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85">
                <a:solidFill>
                  <a:srgbClr val="FFFFFF"/>
                </a:solidFill>
                <a:latin typeface="Arial"/>
                <a:cs typeface="Arial"/>
              </a:rPr>
              <a:t>Store</a:t>
            </a:r>
            <a:r>
              <a:rPr dirty="0" sz="20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20">
                <a:solidFill>
                  <a:srgbClr val="FFFFFF"/>
                </a:solidFill>
                <a:latin typeface="Arial"/>
                <a:cs typeface="Arial"/>
              </a:rPr>
              <a:t>(the </a:t>
            </a:r>
            <a:r>
              <a:rPr dirty="0" sz="2000" spc="-2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B2B</a:t>
            </a:r>
            <a:r>
              <a:rPr dirty="0" sz="20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40">
                <a:solidFill>
                  <a:srgbClr val="FFFFFF"/>
                </a:solidFill>
                <a:latin typeface="Arial"/>
                <a:cs typeface="Arial"/>
              </a:rPr>
              <a:t>customers</a:t>
            </a:r>
            <a:r>
              <a:rPr dirty="0" sz="20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25">
                <a:solidFill>
                  <a:srgbClr val="FFFFFF"/>
                </a:solidFill>
                <a:latin typeface="Arial"/>
                <a:cs typeface="Arial"/>
              </a:rPr>
              <a:t>buying</a:t>
            </a:r>
            <a:r>
              <a:rPr dirty="0" sz="20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20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20">
                <a:solidFill>
                  <a:srgbClr val="FFFFFF"/>
                </a:solidFill>
                <a:latin typeface="Arial"/>
                <a:cs typeface="Arial"/>
              </a:rPr>
              <a:t>goods)</a:t>
            </a:r>
            <a:r>
              <a:rPr dirty="0" sz="20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20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20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40">
                <a:solidFill>
                  <a:srgbClr val="FFFFFF"/>
                </a:solidFill>
                <a:latin typeface="Arial"/>
                <a:cs typeface="Arial"/>
              </a:rPr>
              <a:t>internal</a:t>
            </a:r>
            <a:r>
              <a:rPr dirty="0" sz="20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Sales </a:t>
            </a: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2000" spc="-70">
                <a:solidFill>
                  <a:srgbClr val="FFFFFF"/>
                </a:solidFill>
                <a:latin typeface="Arial"/>
                <a:cs typeface="Arial"/>
              </a:rPr>
              <a:t>Team</a:t>
            </a:r>
            <a:r>
              <a:rPr dirty="0" sz="2000" spc="-1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70">
                <a:solidFill>
                  <a:srgbClr val="FFFFFF"/>
                </a:solidFill>
                <a:latin typeface="Arial"/>
                <a:cs typeface="Arial"/>
              </a:rPr>
              <a:t>(the</a:t>
            </a:r>
            <a:r>
              <a:rPr dirty="0" sz="2000" spc="-10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65">
                <a:solidFill>
                  <a:srgbClr val="FFFFFF"/>
                </a:solidFill>
                <a:latin typeface="Arial"/>
                <a:cs typeface="Arial"/>
              </a:rPr>
              <a:t>staff</a:t>
            </a:r>
            <a:r>
              <a:rPr dirty="0" sz="2000" spc="-10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85">
                <a:solidFill>
                  <a:srgbClr val="FFFFFF"/>
                </a:solidFill>
                <a:latin typeface="Arial"/>
                <a:cs typeface="Arial"/>
              </a:rPr>
              <a:t>managing</a:t>
            </a:r>
            <a:r>
              <a:rPr dirty="0" sz="2000" spc="-10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65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2000" spc="-10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80">
                <a:solidFill>
                  <a:srgbClr val="FFFFFF"/>
                </a:solidFill>
                <a:latin typeface="Arial"/>
                <a:cs typeface="Arial"/>
              </a:rPr>
              <a:t>region</a:t>
            </a:r>
            <a:r>
              <a:rPr dirty="0" sz="2000" spc="-10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7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2000" spc="-1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account).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20"/>
              </a:spcBef>
              <a:buClr>
                <a:srgbClr val="FFFFFF"/>
              </a:buClr>
              <a:buFont typeface="Arial"/>
              <a:buChar char="•"/>
            </a:pPr>
            <a:endParaRPr sz="2000">
              <a:latin typeface="Arial"/>
              <a:cs typeface="Arial"/>
            </a:endParaRPr>
          </a:p>
          <a:p>
            <a:pPr algn="just" marL="226695" marR="5080" indent="-213995">
              <a:lnSpc>
                <a:spcPct val="125800"/>
              </a:lnSpc>
              <a:buChar char="•"/>
              <a:tabLst>
                <a:tab pos="228600" algn="l"/>
              </a:tabLst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Inventory</a:t>
            </a:r>
            <a:r>
              <a:rPr dirty="0" sz="2000" spc="19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dirty="0" sz="2000" spc="20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Supply:</a:t>
            </a:r>
            <a:r>
              <a:rPr dirty="0" sz="2000" spc="20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2000" spc="19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physical</a:t>
            </a:r>
            <a:r>
              <a:rPr dirty="0" sz="2000" spc="20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goods</a:t>
            </a:r>
            <a:r>
              <a:rPr dirty="0" sz="2000" spc="20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are</a:t>
            </a:r>
            <a:r>
              <a:rPr dirty="0" sz="2000" spc="20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managed </a:t>
            </a: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through</a:t>
            </a:r>
            <a:r>
              <a:rPr dirty="0" sz="2000" spc="409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2000" spc="4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Product</a:t>
            </a:r>
            <a:r>
              <a:rPr dirty="0" sz="2000" spc="4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table,</a:t>
            </a:r>
            <a:r>
              <a:rPr dirty="0" sz="2000" spc="4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which</a:t>
            </a:r>
            <a:r>
              <a:rPr dirty="0" sz="2000" spc="4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tracks</a:t>
            </a:r>
            <a:r>
              <a:rPr dirty="0" sz="2000" spc="409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stock</a:t>
            </a:r>
            <a:r>
              <a:rPr dirty="0" sz="2000" spc="4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20">
                <a:solidFill>
                  <a:srgbClr val="FFFFFF"/>
                </a:solidFill>
                <a:latin typeface="Arial"/>
                <a:cs typeface="Arial"/>
              </a:rPr>
              <a:t>levels, </a:t>
            </a:r>
            <a:r>
              <a:rPr dirty="0" sz="2000" spc="-2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2000" spc="-80">
                <a:solidFill>
                  <a:srgbClr val="FFFFFF"/>
                </a:solidFill>
                <a:latin typeface="Arial"/>
                <a:cs typeface="Arial"/>
              </a:rPr>
              <a:t>categories,</a:t>
            </a:r>
            <a:r>
              <a:rPr dirty="0" sz="2000" spc="-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45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200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75">
                <a:solidFill>
                  <a:srgbClr val="FFFFFF"/>
                </a:solidFill>
                <a:latin typeface="Arial"/>
                <a:cs typeface="Arial"/>
              </a:rPr>
              <a:t>pricing.</a:t>
            </a:r>
            <a:r>
              <a:rPr dirty="0" sz="200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60">
                <a:solidFill>
                  <a:srgbClr val="FFFFFF"/>
                </a:solidFill>
                <a:latin typeface="Arial"/>
                <a:cs typeface="Arial"/>
              </a:rPr>
              <a:t>This</a:t>
            </a:r>
            <a:r>
              <a:rPr dirty="0" sz="200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dirty="0" sz="200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75">
                <a:solidFill>
                  <a:srgbClr val="FFFFFF"/>
                </a:solidFill>
                <a:latin typeface="Arial"/>
                <a:cs typeface="Arial"/>
              </a:rPr>
              <a:t>directly</a:t>
            </a:r>
            <a:r>
              <a:rPr dirty="0" sz="200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70">
                <a:solidFill>
                  <a:srgbClr val="FFFFFF"/>
                </a:solidFill>
                <a:latin typeface="Arial"/>
                <a:cs typeface="Arial"/>
              </a:rPr>
              <a:t>linked</a:t>
            </a:r>
            <a:r>
              <a:rPr dirty="0" sz="200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200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4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200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Vendor </a:t>
            </a: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table</a:t>
            </a:r>
            <a:r>
              <a:rPr dirty="0" sz="2000" spc="1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2000" spc="1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monitor</a:t>
            </a:r>
            <a:r>
              <a:rPr dirty="0" sz="2000" spc="1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2000" spc="1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external</a:t>
            </a:r>
            <a:r>
              <a:rPr dirty="0" sz="2000" spc="1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suppliers</a:t>
            </a:r>
            <a:r>
              <a:rPr dirty="0" sz="2000" spc="1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providing</a:t>
            </a:r>
            <a:r>
              <a:rPr dirty="0" sz="2000" spc="1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those 	items.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5157234" y="1018781"/>
            <a:ext cx="21209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45">
                <a:solidFill>
                  <a:srgbClr val="FFFFFF"/>
                </a:solidFill>
                <a:latin typeface="Arial"/>
                <a:cs typeface="Arial"/>
              </a:rPr>
              <a:t>Updated</a:t>
            </a:r>
            <a:r>
              <a:rPr dirty="0" sz="1800" spc="-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dirty="0" sz="1800" spc="-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35">
                <a:solidFill>
                  <a:srgbClr val="FFFFFF"/>
                </a:solidFill>
                <a:latin typeface="Arial"/>
                <a:cs typeface="Arial"/>
              </a:rPr>
              <a:t>31/05/2026</a:t>
            </a:r>
            <a:endParaRPr sz="1800">
              <a:latin typeface="Arial"/>
              <a:cs typeface="Arial"/>
            </a:endParaRP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650" spc="-565"/>
              <a:t>T</a:t>
            </a:r>
            <a:r>
              <a:rPr dirty="0" sz="20650" spc="-575"/>
              <a:t>han</a:t>
            </a:r>
            <a:r>
              <a:rPr dirty="0" sz="20650" spc="-65"/>
              <a:t>k</a:t>
            </a:r>
            <a:r>
              <a:rPr dirty="0" sz="20650" spc="1395"/>
              <a:t> </a:t>
            </a:r>
            <a:r>
              <a:rPr dirty="0" sz="20050" spc="-395">
                <a:solidFill>
                  <a:srgbClr val="FFFFFF"/>
                </a:solidFill>
              </a:rPr>
              <a:t>You</a:t>
            </a:r>
            <a:endParaRPr sz="20050"/>
          </a:p>
        </p:txBody>
      </p:sp>
      <p:grpSp>
        <p:nvGrpSpPr>
          <p:cNvPr id="4" name="object 4"/>
          <p:cNvGrpSpPr/>
          <p:nvPr/>
        </p:nvGrpSpPr>
        <p:grpSpPr>
          <a:xfrm>
            <a:off x="1023937" y="4762"/>
            <a:ext cx="16235680" cy="10282555"/>
            <a:chOff x="1023937" y="4762"/>
            <a:chExt cx="16235680" cy="10282555"/>
          </a:xfrm>
        </p:grpSpPr>
        <p:sp>
          <p:nvSpPr>
            <p:cNvPr id="5" name="object 5"/>
            <p:cNvSpPr/>
            <p:nvPr/>
          </p:nvSpPr>
          <p:spPr>
            <a:xfrm>
              <a:off x="1028700" y="4762"/>
              <a:ext cx="0" cy="10282555"/>
            </a:xfrm>
            <a:custGeom>
              <a:avLst/>
              <a:gdLst/>
              <a:ahLst/>
              <a:cxnLst/>
              <a:rect l="l" t="t" r="r" b="b"/>
              <a:pathLst>
                <a:path w="0" h="10282555">
                  <a:moveTo>
                    <a:pt x="0" y="0"/>
                  </a:moveTo>
                  <a:lnTo>
                    <a:pt x="0" y="10282236"/>
                  </a:lnTo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7254601" y="4762"/>
              <a:ext cx="0" cy="10282555"/>
            </a:xfrm>
            <a:custGeom>
              <a:avLst/>
              <a:gdLst/>
              <a:ahLst/>
              <a:cxnLst/>
              <a:rect l="l" t="t" r="r" b="b"/>
              <a:pathLst>
                <a:path w="0" h="10282555">
                  <a:moveTo>
                    <a:pt x="0" y="0"/>
                  </a:moveTo>
                  <a:lnTo>
                    <a:pt x="0" y="10282236"/>
                  </a:lnTo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1022987" y="8774188"/>
            <a:ext cx="1296035" cy="503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880"/>
              </a:lnSpc>
              <a:spcBef>
                <a:spcPts val="100"/>
              </a:spcBef>
            </a:pPr>
            <a:r>
              <a:rPr dirty="0" sz="1600" spc="-40">
                <a:solidFill>
                  <a:srgbClr val="FFFFFF"/>
                </a:solidFill>
                <a:latin typeface="Arial"/>
                <a:cs typeface="Arial"/>
              </a:rPr>
              <a:t>Presented</a:t>
            </a:r>
            <a:r>
              <a:rPr dirty="0" sz="1600" spc="-8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dirty="0" sz="1600" spc="-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0">
                <a:solidFill>
                  <a:srgbClr val="FFFFFF"/>
                </a:solidFill>
                <a:latin typeface="Arial"/>
                <a:cs typeface="Arial"/>
              </a:rPr>
              <a:t>: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ts val="1880"/>
              </a:lnSpc>
            </a:pP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Yosafat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2026-08-05T09:08:49Z</dcterms:created>
  <dcterms:modified xsi:type="dcterms:W3CDTF">2026-08-05T09:08:49Z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StructuredOutput v10.0.20070.1</vt:lpwstr>
  </property>
  <property fmtid="{D5CDD505-2E9C-101B-9397-08002B2CF9AE}" pid="3" name="Created">
    <vt:filetime>2026-08-05T00:00:00Z</vt:filetime>
  </property>
  <property fmtid="{D5CDD505-2E9C-101B-9397-08002B2CF9AE}" pid="4" name="LastSaved">
    <vt:filetime>2026-08-05T00:00:00Z</vt:filetime>
  </property>
  <property fmtid="{D5CDD505-2E9C-101B-9397-08002B2CF9AE}" pid="5" name="Producer">
    <vt:lpwstr>3-Heights(TM) PDF Security Shell 4.8.25.2 (http://www.pdf-tools.com)</vt:lpwstr>
  </property>
</Properties>
</file>